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5" r:id="rId4"/>
    <p:sldMasterId id="2147483716" r:id="rId5"/>
    <p:sldMasterId id="214748371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Hanken Grotesk Medium"/>
      <p:regular r:id="rId25"/>
      <p:bold r:id="rId26"/>
      <p:italic r:id="rId27"/>
      <p:boldItalic r:id="rId28"/>
    </p:embeddedFont>
    <p:embeddedFont>
      <p:font typeface="Neuton Light"/>
      <p:regular r:id="rId29"/>
      <p:bold r:id="rId30"/>
      <p:boldItalic r:id="rId31"/>
    </p:embeddedFont>
    <p:embeddedFont>
      <p:font typeface="Hanken Grotesk"/>
      <p:regular r:id="rId32"/>
      <p:bold r:id="rId33"/>
      <p:italic r:id="rId34"/>
      <p:boldItalic r:id="rId35"/>
    </p:embeddedFont>
    <p:embeddedFont>
      <p:font typeface="Hanken Grotesk SemiBold"/>
      <p:regular r:id="rId36"/>
      <p:bold r:id="rId37"/>
      <p:italic r:id="rId38"/>
      <p:boldItalic r:id="rId39"/>
    </p:embeddedFont>
    <p:embeddedFont>
      <p:font typeface="Neuton"/>
      <p:regular r:id="rId40"/>
      <p:bold r:id="rId41"/>
      <p:italic r:id="rId42"/>
    </p:embeddedFont>
    <p:embeddedFont>
      <p:font typeface="Azeret Mono"/>
      <p:regular r:id="rId43"/>
      <p:bold r:id="rId44"/>
      <p:italic r:id="rId45"/>
      <p:boldItalic r:id="rId46"/>
    </p:embeddedFont>
    <p:embeddedFont>
      <p:font typeface="Hanken Grotesk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uton-regular.fntdata"/><Relationship Id="rId42" Type="http://schemas.openxmlformats.org/officeDocument/2006/relationships/font" Target="fonts/Neuton-italic.fntdata"/><Relationship Id="rId41" Type="http://schemas.openxmlformats.org/officeDocument/2006/relationships/font" Target="fonts/Neuton-bold.fntdata"/><Relationship Id="rId44" Type="http://schemas.openxmlformats.org/officeDocument/2006/relationships/font" Target="fonts/AzeretMono-bold.fntdata"/><Relationship Id="rId43" Type="http://schemas.openxmlformats.org/officeDocument/2006/relationships/font" Target="fonts/AzeretMono-regular.fntdata"/><Relationship Id="rId46" Type="http://schemas.openxmlformats.org/officeDocument/2006/relationships/font" Target="fonts/AzeretMono-boldItalic.fntdata"/><Relationship Id="rId45" Type="http://schemas.openxmlformats.org/officeDocument/2006/relationships/font" Target="fonts/AzeretMon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HankenGroteskLight-bold.fntdata"/><Relationship Id="rId47" Type="http://schemas.openxmlformats.org/officeDocument/2006/relationships/font" Target="fonts/HankenGroteskLight-regular.fntdata"/><Relationship Id="rId49" Type="http://schemas.openxmlformats.org/officeDocument/2006/relationships/font" Target="fonts/HankenGroteskLight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eutonLight-boldItalic.fntdata"/><Relationship Id="rId30" Type="http://schemas.openxmlformats.org/officeDocument/2006/relationships/font" Target="fonts/NeutonLight-bold.fntdata"/><Relationship Id="rId33" Type="http://schemas.openxmlformats.org/officeDocument/2006/relationships/font" Target="fonts/HankenGrotesk-bold.fntdata"/><Relationship Id="rId32" Type="http://schemas.openxmlformats.org/officeDocument/2006/relationships/font" Target="fonts/HankenGrotesk-regular.fntdata"/><Relationship Id="rId35" Type="http://schemas.openxmlformats.org/officeDocument/2006/relationships/font" Target="fonts/HankenGrotesk-boldItalic.fntdata"/><Relationship Id="rId34" Type="http://schemas.openxmlformats.org/officeDocument/2006/relationships/font" Target="fonts/HankenGrotesk-italic.fntdata"/><Relationship Id="rId37" Type="http://schemas.openxmlformats.org/officeDocument/2006/relationships/font" Target="fonts/HankenGroteskSemiBold-bold.fntdata"/><Relationship Id="rId36" Type="http://schemas.openxmlformats.org/officeDocument/2006/relationships/font" Target="fonts/HankenGroteskSemiBold-regular.fntdata"/><Relationship Id="rId39" Type="http://schemas.openxmlformats.org/officeDocument/2006/relationships/font" Target="fonts/HankenGroteskSemiBold-boldItalic.fntdata"/><Relationship Id="rId38" Type="http://schemas.openxmlformats.org/officeDocument/2006/relationships/font" Target="fonts/HankenGroteskSemiBold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font" Target="fonts/HankenGroteskMedium-bold.fntdata"/><Relationship Id="rId25" Type="http://schemas.openxmlformats.org/officeDocument/2006/relationships/font" Target="fonts/HankenGroteskMedium-regular.fntdata"/><Relationship Id="rId28" Type="http://schemas.openxmlformats.org/officeDocument/2006/relationships/font" Target="fonts/HankenGroteskMedium-boldItalic.fntdata"/><Relationship Id="rId27" Type="http://schemas.openxmlformats.org/officeDocument/2006/relationships/font" Target="fonts/HankenGroteskMedium-italic.fntdata"/><Relationship Id="rId29" Type="http://schemas.openxmlformats.org/officeDocument/2006/relationships/font" Target="fonts/NeutonLight-regular.fntdata"/><Relationship Id="rId50" Type="http://schemas.openxmlformats.org/officeDocument/2006/relationships/font" Target="fonts/HankenGroteskLigh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0c842569e_3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f0c842569e_3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Backend Lead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0c842569e_3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g3f0c842569e_3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Frontend, Backend, DevOps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ee4022de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ee4022de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ee4022de9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ee4022de9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e4022de9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ee4022de9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Lead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e4022de9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e4022de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QA Lead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ee4022de9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ee4022de9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lead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0ad6c83ac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0ad6c83ac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0ad6c83a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f0ad6c83a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ee4022de9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ee4022de9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f0ad6c83a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f0ad6c83a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0ad6c83ac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0ad6c83ac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f0ad6c83ac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f0ad6c83ac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0ad6c83ac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f0ad6c83ac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f0ad6c83ac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f0ad6c83ac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f0ad6c83ac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f0ad6c83ac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4" name="Google Shape;664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5" name="Google Shape;66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8" name="Google Shape;66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9" name="Google Shape;66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2" name="Google Shape;67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5" name="Google Shape;675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6" name="Google Shape;676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7" name="Google Shape;67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0" name="Google Shape;68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3" name="Google Shape;683;p6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4" name="Google Shape;684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87" name="Google Shape;68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1" name="Google Shape;691;p6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2" name="Google Shape;692;p6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3" name="Google Shape;69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96" name="Google Shape;69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9" name="Google Shape;699;p6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0" name="Google Shape;700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 Project Demo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Neighborhood Tool Sharing</a:t>
            </a:r>
            <a:endParaRPr i="1"/>
          </a:p>
        </p:txBody>
      </p:sp>
      <p:sp>
        <p:nvSpPr>
          <p:cNvPr id="708" name="Google Shape;708;p71"/>
          <p:cNvSpPr txBox="1"/>
          <p:nvPr>
            <p:ph idx="1" type="subTitle"/>
          </p:nvPr>
        </p:nvSpPr>
        <p:spPr>
          <a:xfrm>
            <a:off x="311700" y="3445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b="1" lang="en" sz="1880"/>
              <a:t>Team Members</a:t>
            </a:r>
            <a:endParaRPr b="1" sz="188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49734"/>
              <a:buNone/>
            </a:pPr>
            <a:r>
              <a:rPr lang="en" sz="1880"/>
              <a:t>Rion Sawabe     Ivan Wu     Yafei Wang     Nick Fairhart     Loreto Coloma</a:t>
            </a:r>
            <a:endParaRPr sz="1880"/>
          </a:p>
        </p:txBody>
      </p:sp>
      <p:sp>
        <p:nvSpPr>
          <p:cNvPr id="709" name="Google Shape;709;p71"/>
          <p:cNvSpPr txBox="1"/>
          <p:nvPr/>
        </p:nvSpPr>
        <p:spPr>
          <a:xfrm>
            <a:off x="571500" y="381000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</a:rPr>
              <a:t>Group 3 | ICS 613</a:t>
            </a:r>
            <a:endParaRPr sz="1100">
              <a:solidFill>
                <a:srgbClr val="5F6368"/>
              </a:solidFill>
            </a:endParaRPr>
          </a:p>
        </p:txBody>
      </p:sp>
      <p:sp>
        <p:nvSpPr>
          <p:cNvPr id="710" name="Google Shape;710;p71"/>
          <p:cNvSpPr txBox="1"/>
          <p:nvPr/>
        </p:nvSpPr>
        <p:spPr>
          <a:xfrm>
            <a:off x="6286500" y="381000"/>
            <a:ext cx="22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F6368"/>
                </a:solidFill>
                <a:latin typeface="Azeret Mono"/>
                <a:ea typeface="Azeret Mono"/>
                <a:cs typeface="Azeret Mono"/>
                <a:sym typeface="Azeret Mono"/>
              </a:rPr>
              <a:t>Summer 2026</a:t>
            </a:r>
            <a:endParaRPr sz="1100">
              <a:solidFill>
                <a:srgbClr val="5F6368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2"/>
          <p:cNvSpPr txBox="1"/>
          <p:nvPr>
            <p:ph type="title"/>
          </p:nvPr>
        </p:nvSpPr>
        <p:spPr>
          <a:xfrm>
            <a:off x="311700" y="12180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Overview of the Domain Model and ER diagram</a:t>
            </a:r>
            <a:endParaRPr b="1" i="0" sz="24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6" name="Google Shape;716;p72"/>
          <p:cNvGrpSpPr/>
          <p:nvPr/>
        </p:nvGrpSpPr>
        <p:grpSpPr>
          <a:xfrm>
            <a:off x="381000" y="762000"/>
            <a:ext cx="4048200" cy="1809600"/>
            <a:chOff x="381000" y="762000"/>
            <a:chExt cx="4048200" cy="1809600"/>
          </a:xfrm>
        </p:grpSpPr>
        <p:sp>
          <p:nvSpPr>
            <p:cNvPr id="717" name="Google Shape;717;p72"/>
            <p:cNvSpPr/>
            <p:nvPr/>
          </p:nvSpPr>
          <p:spPr>
            <a:xfrm>
              <a:off x="381000" y="76200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8" name="Google Shape;718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762000"/>
              <a:ext cx="4048200" cy="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72"/>
            <p:cNvSpPr txBox="1"/>
            <p:nvPr/>
          </p:nvSpPr>
          <p:spPr>
            <a:xfrm>
              <a:off x="523875" y="876300"/>
              <a:ext cx="37623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8 Entities, 5 Core Relationships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User, Tool, Reservation, Review, Invite, Photo, Notification, AdminAuditLog</a:t>
              </a:r>
              <a:endParaRPr b="1" sz="11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User owns Tools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• User borrows via Reservations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Reservation → Review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(one per party)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C4043"/>
                </a:buClr>
                <a:buSzPts val="1100"/>
                <a:buFont typeface="Arial"/>
                <a:buChar char="●"/>
              </a:pPr>
              <a:r>
                <a:rPr b="1" lang="en" sz="11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Tool → Photos</a:t>
              </a: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(1–5 scale limit)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72"/>
          <p:cNvGrpSpPr/>
          <p:nvPr/>
        </p:nvGrpSpPr>
        <p:grpSpPr>
          <a:xfrm>
            <a:off x="4714875" y="762000"/>
            <a:ext cx="4048200" cy="1809600"/>
            <a:chOff x="4714875" y="762000"/>
            <a:chExt cx="4048200" cy="1809600"/>
          </a:xfrm>
        </p:grpSpPr>
        <p:sp>
          <p:nvSpPr>
            <p:cNvPr id="721" name="Google Shape;721;p72"/>
            <p:cNvSpPr/>
            <p:nvPr/>
          </p:nvSpPr>
          <p:spPr>
            <a:xfrm>
              <a:off x="4714875" y="762000"/>
              <a:ext cx="4048200" cy="1809600"/>
            </a:xfrm>
            <a:prstGeom prst="roundRect">
              <a:avLst>
                <a:gd fmla="val 421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2" name="Google Shape;722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14875" y="762000"/>
              <a:ext cx="4048200" cy="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3" name="Google Shape;723;p72"/>
            <p:cNvSpPr txBox="1"/>
            <p:nvPr/>
          </p:nvSpPr>
          <p:spPr>
            <a:xfrm>
              <a:off x="4857750" y="876300"/>
              <a:ext cx="3762300" cy="16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Key DB Constraints</a:t>
              </a:r>
              <a:endParaRPr b="1" sz="119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GiST EXCLUDE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on (tool_id, daterange) — strictly prevents any double-booking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(reservation_id, reviewer_id) — limits to one review per party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Soft-delete</a:t>
              </a: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with active-reservation guard; hard-delete for PII security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Enums:</a:t>
              </a:r>
              <a:r>
                <a:rPr lang="en" sz="85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 6 ToolCategory · 5 ToolCondition · 6 ReservationState · 14 NotificationType</a:t>
              </a:r>
              <a:endParaRPr sz="85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72"/>
          <p:cNvSpPr/>
          <p:nvPr/>
        </p:nvSpPr>
        <p:spPr>
          <a:xfrm>
            <a:off x="714375" y="2686050"/>
            <a:ext cx="7715400" cy="2362200"/>
          </a:xfrm>
          <a:prstGeom prst="roundRect">
            <a:avLst>
              <a:gd fmla="val 3225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250" y="2686050"/>
            <a:ext cx="7641501" cy="21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3"/>
          <p:cNvSpPr txBox="1"/>
          <p:nvPr>
            <p:ph type="title"/>
          </p:nvPr>
        </p:nvSpPr>
        <p:spPr>
          <a:xfrm>
            <a:off x="311700" y="33337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Major Accomplishments</a:t>
            </a:r>
            <a:endParaRPr b="1" sz="24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73"/>
          <p:cNvSpPr/>
          <p:nvPr/>
        </p:nvSpPr>
        <p:spPr>
          <a:xfrm>
            <a:off x="285750" y="1047750"/>
            <a:ext cx="2714700" cy="3762300"/>
          </a:xfrm>
          <a:prstGeom prst="roundRect">
            <a:avLst>
              <a:gd fmla="val 2807" name="adj"/>
            </a:avLst>
          </a:prstGeom>
          <a:solidFill>
            <a:srgbClr val="F8F9FA"/>
          </a:solidFill>
          <a:ln cap="flat" cmpd="sng" w="143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73"/>
          <p:cNvSpPr txBox="1"/>
          <p:nvPr/>
        </p:nvSpPr>
        <p:spPr>
          <a:xfrm>
            <a:off x="285750" y="1047750"/>
            <a:ext cx="2798100" cy="376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1" sz="18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46 Endpoints / 7 Routers</a:t>
            </a:r>
            <a:br>
              <a:rPr b="1" lang="en" sz="12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11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Fully Implemented &amp; Tested</a:t>
            </a:r>
            <a:endParaRPr b="1" sz="12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Comprehensive coverage of core services ensuring robust data layers and business logic.</a:t>
            </a:r>
            <a:endParaRPr sz="10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Endpoint Breakdown:</a:t>
            </a:r>
            <a:endParaRPr b="1" sz="11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Auth: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13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11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Reservations: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10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Reviews: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5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Admin: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4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Notifications &amp; Health:</a:t>
            </a:r>
            <a:r>
              <a:rPr lang="en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3 endpoints</a:t>
            </a:r>
            <a:endParaRPr sz="10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3143250" y="1047750"/>
            <a:ext cx="2714700" cy="3762300"/>
          </a:xfrm>
          <a:prstGeom prst="roundRect">
            <a:avLst>
              <a:gd fmla="val 2807" name="adj"/>
            </a:avLst>
          </a:prstGeom>
          <a:solidFill>
            <a:srgbClr val="F8F9FA"/>
          </a:solidFill>
          <a:ln cap="flat" cmpd="sng" w="143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3"/>
          <p:cNvSpPr txBox="1"/>
          <p:nvPr/>
        </p:nvSpPr>
        <p:spPr>
          <a:xfrm>
            <a:off x="3143250" y="1047750"/>
            <a:ext cx="2774100" cy="376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65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Infrastructure Highlights</a:t>
            </a:r>
            <a:endParaRPr b="1" sz="1665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12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JWT Security: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Access &amp; refresh tokens with automatic rotation.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Rate Limiting: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Configurable active protection on all auth endpoints.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DB-Level Guard: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GiST EXCLUDE constraints prevent double-booking.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APScheduler: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Automated stale cancels, escalations, and cleanups.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274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971"/>
              <a:buFont typeface="Arial"/>
              <a:buChar char="●"/>
            </a:pPr>
            <a:r>
              <a:rPr b="1" lang="en" sz="1018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Photo Uploads:</a:t>
            </a:r>
            <a:r>
              <a:rPr lang="en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Magic-byte validated with a 5 MB disk limit.</a:t>
            </a:r>
            <a:endParaRPr sz="971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5" name="Google Shape;735;p73" title="API_endpoints_auth.png"/>
          <p:cNvPicPr preferRelativeResize="0"/>
          <p:nvPr/>
        </p:nvPicPr>
        <p:blipFill rotWithShape="1">
          <a:blip r:embed="rId3">
            <a:alphaModFix/>
          </a:blip>
          <a:srcRect b="13340" l="17429" r="26385" t="10475"/>
          <a:stretch/>
        </p:blipFill>
        <p:spPr>
          <a:xfrm>
            <a:off x="5917425" y="1098863"/>
            <a:ext cx="3096673" cy="357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Changes (if any)</a:t>
            </a:r>
            <a:endParaRPr/>
          </a:p>
        </p:txBody>
      </p:sp>
      <p:sp>
        <p:nvSpPr>
          <p:cNvPr id="741" name="Google Shape;741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Approach (changes, if any)</a:t>
            </a:r>
            <a:endParaRPr/>
          </a:p>
        </p:txBody>
      </p:sp>
      <p:sp>
        <p:nvSpPr>
          <p:cNvPr id="747" name="Google Shape;747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Risks &amp; Mitigation Strategies Update (if any)</a:t>
            </a:r>
            <a:endParaRPr/>
          </a:p>
        </p:txBody>
      </p:sp>
      <p:sp>
        <p:nvSpPr>
          <p:cNvPr id="753" name="Google Shape;753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Were there any risks identified in Project Initiation that materialized?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How were they addressed?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User Story 18 Auto-Cancel Overdue: </a:t>
            </a:r>
            <a:r>
              <a:rPr lang="en" sz="1500">
                <a:solidFill>
                  <a:schemeClr val="dk1"/>
                </a:solidFill>
              </a:rPr>
              <a:t>As the system, I want to automatically cancel reservations that are never picked up after a grace period, so that tool availability is not indefinitely blocked.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Job Runner (Celery + Redis):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 Metrics</a:t>
            </a:r>
            <a:endParaRPr/>
          </a:p>
        </p:txBody>
      </p:sp>
      <p:sp>
        <p:nvSpPr>
          <p:cNvPr id="759" name="Google Shape;759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Defects reported, fixed, open,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quality metrics, unit test coverage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  <p:sp>
        <p:nvSpPr>
          <p:cNvPr id="765" name="Google Shape;765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Missed/Postponed </a:t>
            </a:r>
            <a:r>
              <a:rPr lang="en"/>
              <a:t>milestones</a:t>
            </a:r>
            <a:r>
              <a:rPr lang="en"/>
              <a:t> (Why?)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Upcoming milestones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What will be delivered at these milestones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"/>
          <p:cNvSpPr/>
          <p:nvPr/>
        </p:nvSpPr>
        <p:spPr>
          <a:xfrm>
            <a:off x="228051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1" name="Google Shape;771;p79"/>
          <p:cNvSpPr/>
          <p:nvPr/>
        </p:nvSpPr>
        <p:spPr>
          <a:xfrm>
            <a:off x="332497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2" name="Google Shape;772;p79"/>
          <p:cNvSpPr/>
          <p:nvPr/>
        </p:nvSpPr>
        <p:spPr>
          <a:xfrm>
            <a:off x="6421226" y="1218601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3" name="Google Shape;773;p79"/>
          <p:cNvSpPr txBox="1"/>
          <p:nvPr>
            <p:ph idx="3" type="title"/>
          </p:nvPr>
        </p:nvSpPr>
        <p:spPr>
          <a:xfrm>
            <a:off x="226825" y="19336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Functionality</a:t>
            </a:r>
            <a:endParaRPr/>
          </a:p>
        </p:txBody>
      </p:sp>
      <p:sp>
        <p:nvSpPr>
          <p:cNvPr id="774" name="Google Shape;774;p79"/>
          <p:cNvSpPr txBox="1"/>
          <p:nvPr>
            <p:ph idx="4" type="title"/>
          </p:nvPr>
        </p:nvSpPr>
        <p:spPr>
          <a:xfrm>
            <a:off x="3324053" y="1933645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Usability</a:t>
            </a:r>
            <a:endParaRPr/>
          </a:p>
        </p:txBody>
      </p:sp>
      <p:sp>
        <p:nvSpPr>
          <p:cNvPr id="775" name="Google Shape;775;p79"/>
          <p:cNvSpPr txBox="1"/>
          <p:nvPr>
            <p:ph idx="5" type="title"/>
          </p:nvPr>
        </p:nvSpPr>
        <p:spPr>
          <a:xfrm>
            <a:off x="6420727" y="1933645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Admin Tools</a:t>
            </a:r>
            <a:endParaRPr/>
          </a:p>
        </p:txBody>
      </p:sp>
      <p:sp>
        <p:nvSpPr>
          <p:cNvPr id="776" name="Google Shape;776;p79"/>
          <p:cNvSpPr txBox="1"/>
          <p:nvPr>
            <p:ph idx="7" type="title"/>
          </p:nvPr>
        </p:nvSpPr>
        <p:spPr>
          <a:xfrm>
            <a:off x="226006" y="336554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Admin Tools</a:t>
            </a:r>
            <a:endParaRPr/>
          </a:p>
        </p:txBody>
      </p:sp>
      <p:sp>
        <p:nvSpPr>
          <p:cNvPr id="777" name="Google Shape;777;p79"/>
          <p:cNvSpPr txBox="1"/>
          <p:nvPr>
            <p:ph idx="21" type="title"/>
          </p:nvPr>
        </p:nvSpPr>
        <p:spPr>
          <a:xfrm>
            <a:off x="3322845" y="3365553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Retrospective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78" name="Google Shape;778;p79"/>
          <p:cNvSpPr txBox="1"/>
          <p:nvPr>
            <p:ph idx="15" type="title"/>
          </p:nvPr>
        </p:nvSpPr>
        <p:spPr>
          <a:xfrm>
            <a:off x="586800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Deferred User Stories</a:t>
            </a:r>
            <a:endParaRPr/>
          </a:p>
        </p:txBody>
      </p:sp>
      <p:sp>
        <p:nvSpPr>
          <p:cNvPr id="779" name="Google Shape;779;p79"/>
          <p:cNvSpPr txBox="1"/>
          <p:nvPr>
            <p:ph idx="16" type="title"/>
          </p:nvPr>
        </p:nvSpPr>
        <p:spPr>
          <a:xfrm>
            <a:off x="3684063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Improvements</a:t>
            </a:r>
            <a:endParaRPr/>
          </a:p>
        </p:txBody>
      </p:sp>
      <p:sp>
        <p:nvSpPr>
          <p:cNvPr id="780" name="Google Shape;780;p79"/>
          <p:cNvSpPr txBox="1"/>
          <p:nvPr>
            <p:ph idx="17" type="title"/>
          </p:nvPr>
        </p:nvSpPr>
        <p:spPr>
          <a:xfrm>
            <a:off x="6781038" y="1218595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TBD/Icebox</a:t>
            </a:r>
            <a:endParaRPr/>
          </a:p>
        </p:txBody>
      </p:sp>
      <p:sp>
        <p:nvSpPr>
          <p:cNvPr id="781" name="Google Shape;781;p79"/>
          <p:cNvSpPr txBox="1"/>
          <p:nvPr>
            <p:ph idx="2" type="title"/>
          </p:nvPr>
        </p:nvSpPr>
        <p:spPr>
          <a:xfrm>
            <a:off x="33247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782" name="Google Shape;782;p79"/>
          <p:cNvSpPr txBox="1"/>
          <p:nvPr>
            <p:ph idx="6" type="title"/>
          </p:nvPr>
        </p:nvSpPr>
        <p:spPr>
          <a:xfrm>
            <a:off x="6421500" y="1218595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83" name="Google Shape;783;p79"/>
          <p:cNvSpPr txBox="1"/>
          <p:nvPr>
            <p:ph type="title"/>
          </p:nvPr>
        </p:nvSpPr>
        <p:spPr>
          <a:xfrm>
            <a:off x="225575" y="121859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784" name="Google Shape;784;p79"/>
          <p:cNvSpPr txBox="1"/>
          <p:nvPr>
            <p:ph idx="25" type="body"/>
          </p:nvPr>
        </p:nvSpPr>
        <p:spPr>
          <a:xfrm>
            <a:off x="225725" y="216782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Timezone normalization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Reservation messaging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Notification center UI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Member: Reporting a listing</a:t>
            </a:r>
            <a:endParaRPr/>
          </a:p>
        </p:txBody>
      </p:sp>
      <p:sp>
        <p:nvSpPr>
          <p:cNvPr id="785" name="Google Shape;785;p79"/>
          <p:cNvSpPr txBox="1"/>
          <p:nvPr>
            <p:ph idx="26" type="body"/>
          </p:nvPr>
        </p:nvSpPr>
        <p:spPr>
          <a:xfrm>
            <a:off x="3321503" y="2167819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Pagination on all list endpoints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Advanced search filters</a:t>
            </a:r>
            <a:endParaRPr/>
          </a:p>
        </p:txBody>
      </p:sp>
      <p:sp>
        <p:nvSpPr>
          <p:cNvPr id="786" name="Google Shape;786;p79"/>
          <p:cNvSpPr txBox="1"/>
          <p:nvPr>
            <p:ph idx="27" type="body"/>
          </p:nvPr>
        </p:nvSpPr>
        <p:spPr>
          <a:xfrm>
            <a:off x="6417275" y="2167820"/>
            <a:ext cx="25296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Managing tool categories (CRUD API)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Generate community moderation reports</a:t>
            </a:r>
            <a:endParaRPr/>
          </a:p>
        </p:txBody>
      </p:sp>
      <p:sp>
        <p:nvSpPr>
          <p:cNvPr id="787" name="Google Shape;787;p79"/>
          <p:cNvSpPr txBox="1"/>
          <p:nvPr>
            <p:ph idx="22" type="body"/>
          </p:nvPr>
        </p:nvSpPr>
        <p:spPr>
          <a:xfrm>
            <a:off x="225725" y="359972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Review reports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Track violations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Suspend/reactivate a member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Moderation history</a:t>
            </a:r>
            <a:endParaRPr/>
          </a:p>
        </p:txBody>
      </p:sp>
      <p:sp>
        <p:nvSpPr>
          <p:cNvPr id="788" name="Google Shape;788;p79"/>
          <p:cNvSpPr txBox="1"/>
          <p:nvPr>
            <p:ph idx="23" type="body"/>
          </p:nvPr>
        </p:nvSpPr>
        <p:spPr>
          <a:xfrm>
            <a:off x="3321503" y="3599727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Bug fixes for issues identified after R1</a:t>
            </a:r>
            <a:endParaRPr/>
          </a:p>
        </p:txBody>
      </p:sp>
      <p:cxnSp>
        <p:nvCxnSpPr>
          <p:cNvPr id="789" name="Google Shape;789;p79"/>
          <p:cNvCxnSpPr/>
          <p:nvPr/>
        </p:nvCxnSpPr>
        <p:spPr>
          <a:xfrm rot="10800000">
            <a:off x="-5575" y="31388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79"/>
          <p:cNvCxnSpPr/>
          <p:nvPr/>
        </p:nvCxnSpPr>
        <p:spPr>
          <a:xfrm rot="10800000">
            <a:off x="-6427" y="17045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79"/>
          <p:cNvCxnSpPr/>
          <p:nvPr/>
        </p:nvCxnSpPr>
        <p:spPr>
          <a:xfrm rot="10800000">
            <a:off x="-5575" y="4419295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2" name="Google Shape;79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Next Steps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 Tool Sharing Demo</a:t>
            </a:r>
            <a:endParaRPr/>
          </a:p>
        </p:txBody>
      </p:sp>
      <p:sp>
        <p:nvSpPr>
          <p:cNvPr id="798" name="Google Shape;798;p80"/>
          <p:cNvSpPr txBox="1"/>
          <p:nvPr>
            <p:ph idx="1" type="body"/>
          </p:nvPr>
        </p:nvSpPr>
        <p:spPr>
          <a:xfrm>
            <a:off x="311700" y="1152475"/>
            <a:ext cx="8520600" cy="4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Sample text</a:t>
            </a:r>
            <a:endParaRPr/>
          </a:p>
        </p:txBody>
      </p:sp>
      <p:pic>
        <p:nvPicPr>
          <p:cNvPr id="799" name="Google Shape;7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800" y="1710825"/>
            <a:ext cx="7954409" cy="32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1"/>
          <p:cNvSpPr txBox="1"/>
          <p:nvPr>
            <p:ph type="title"/>
          </p:nvPr>
        </p:nvSpPr>
        <p:spPr>
          <a:xfrm>
            <a:off x="311700" y="445025"/>
            <a:ext cx="8520600" cy="32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Questions?</a:t>
            </a:r>
            <a:endParaRPr sz="3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(only to prepare)</a:t>
            </a:r>
            <a:endParaRPr/>
          </a:p>
        </p:txBody>
      </p:sp>
      <p:sp>
        <p:nvSpPr>
          <p:cNvPr id="810" name="Google Shape;810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addition to demonstrating key functionality in the live demo, teams should be prepared to conduct a </a:t>
            </a:r>
            <a:r>
              <a:rPr b="1" lang="en"/>
              <a:t>code walkthrough</a:t>
            </a:r>
            <a:r>
              <a:rPr lang="en"/>
              <a:t> and </a:t>
            </a:r>
            <a:r>
              <a:rPr b="1" lang="en"/>
              <a:t>explain key components of the codebase.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83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6" name="Google Shape;816;p83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83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8" name="Google Shape;818;p83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83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0" name="Google Shape;820;p83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83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2" name="Google Shape;822;p83"/>
          <p:cNvSpPr/>
          <p:nvPr/>
        </p:nvSpPr>
        <p:spPr>
          <a:xfrm>
            <a:off x="4815050" y="29769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83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3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83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83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SWOT</a:t>
            </a:r>
            <a:endParaRPr/>
          </a:p>
        </p:txBody>
      </p:sp>
      <p:sp>
        <p:nvSpPr>
          <p:cNvPr id="827" name="Google Shape;827;p83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Strengths</a:t>
            </a:r>
            <a:endParaRPr/>
          </a:p>
        </p:txBody>
      </p:sp>
      <p:sp>
        <p:nvSpPr>
          <p:cNvPr id="828" name="Google Shape;828;p83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Make a list of what your organization or team excels at.</a:t>
            </a:r>
            <a:endParaRPr/>
          </a:p>
          <a:p>
            <a:pPr indent="-90000" lvl="0" marL="180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"/>
              <a:t>– This is what sets you apart from the competition</a:t>
            </a:r>
            <a:r>
              <a:rPr lang="en"/>
              <a:t>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need.</a:t>
            </a:r>
            <a:endParaRPr/>
          </a:p>
        </p:txBody>
      </p:sp>
      <p:sp>
        <p:nvSpPr>
          <p:cNvPr id="829" name="Google Shape;829;p83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Weaknesses</a:t>
            </a:r>
            <a:endParaRPr/>
          </a:p>
        </p:txBody>
      </p:sp>
      <p:sp>
        <p:nvSpPr>
          <p:cNvPr id="830" name="Google Shape;830;p83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Identify areas for improvement within your organization or team.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Think about what you could be doing internally to achieve better </a:t>
            </a:r>
            <a:r>
              <a:rPr lang="en"/>
              <a:t>results</a:t>
            </a:r>
            <a:r>
              <a:rPr lang="en"/>
              <a:t>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  <p:sp>
        <p:nvSpPr>
          <p:cNvPr id="831" name="Google Shape;831;p83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832" name="Google Shape;832;p83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Call out any opportunities for growth.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These are external factors, such as market trends or platforms, that your business can leverage.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  <p:sp>
        <p:nvSpPr>
          <p:cNvPr id="833" name="Google Shape;833;p83"/>
          <p:cNvSpPr txBox="1"/>
          <p:nvPr>
            <p:ph idx="8" type="subTitle"/>
          </p:nvPr>
        </p:nvSpPr>
        <p:spPr>
          <a:xfrm>
            <a:off x="4814750" y="29793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Threats</a:t>
            </a:r>
            <a:endParaRPr/>
          </a:p>
        </p:txBody>
      </p:sp>
      <p:sp>
        <p:nvSpPr>
          <p:cNvPr id="834" name="Google Shape;834;p83"/>
          <p:cNvSpPr txBox="1"/>
          <p:nvPr>
            <p:ph idx="4294967295" type="body"/>
          </p:nvPr>
        </p:nvSpPr>
        <p:spPr>
          <a:xfrm>
            <a:off x="4629675" y="3361192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 lnSpcReduction="10000"/>
          </a:bodyPr>
          <a:lstStyle/>
          <a:p>
            <a:pPr indent="-9000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</a:t>
            </a:r>
            <a:r>
              <a:rPr lang="en"/>
              <a:t> Mention any challenges, obstacles, or risks that your business is facing.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These can range from environmental factors to new market competitors.</a:t>
            </a:r>
            <a:endParaRPr/>
          </a:p>
          <a:p>
            <a:pPr indent="-90000" lvl="0" marL="1800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– Add as many items as you want or need.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4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0" name="Google Shape;840;p84"/>
          <p:cNvSpPr/>
          <p:nvPr/>
        </p:nvSpPr>
        <p:spPr>
          <a:xfrm>
            <a:off x="33254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1" name="Google Shape;841;p84"/>
          <p:cNvSpPr/>
          <p:nvPr/>
        </p:nvSpPr>
        <p:spPr>
          <a:xfrm>
            <a:off x="642165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2" name="Google Shape;842;p84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843" name="Google Shape;843;p84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844" name="Google Shape;844;p84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845" name="Google Shape;845;p84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846" name="Google Shape;846;p84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47" name="Google Shape;847;p84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48" name="Google Shape;848;p84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849" name="Google Shape;849;p84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850" name="Google Shape;850;p84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851" name="Google Shape;851;p84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852" name="Google Shape;852;p84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53" name="Google Shape;853;p84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854" name="Google Shape;854;p84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55" name="Google Shape;855;p84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56" name="Google Shape;856;p8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/>
              <a:t>PERSONAS</a:t>
            </a:r>
            <a:endParaRPr/>
          </a:p>
        </p:txBody>
      </p:sp>
      <p:sp>
        <p:nvSpPr>
          <p:cNvPr id="857" name="Google Shape;857;p84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58" name="Google Shape;858;p84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59" name="Google Shape;859;p84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60" name="Google Shape;860;p84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861" name="Google Shape;861;p84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862" name="Google Shape;862;p84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Describe an obstacle your persona struggles with. Think about what interferes with their needs, goals.</a:t>
            </a:r>
            <a:endParaRPr/>
          </a:p>
        </p:txBody>
      </p:sp>
      <p:sp>
        <p:nvSpPr>
          <p:cNvPr id="863" name="Google Shape;863;p84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864" name="Google Shape;864;p84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865" name="Google Shape;865;p84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866" name="Google Shape;866;p84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cxnSp>
        <p:nvCxnSpPr>
          <p:cNvPr id="867" name="Google Shape;867;p84"/>
          <p:cNvCxnSpPr/>
          <p:nvPr/>
        </p:nvCxnSpPr>
        <p:spPr>
          <a:xfrm rot="10800000">
            <a:off x="-5150" y="24824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84"/>
          <p:cNvCxnSpPr/>
          <p:nvPr/>
        </p:nvCxnSpPr>
        <p:spPr>
          <a:xfrm rot="10800000">
            <a:off x="-6002" y="10481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84"/>
          <p:cNvCxnSpPr/>
          <p:nvPr/>
        </p:nvCxnSpPr>
        <p:spPr>
          <a:xfrm rot="10800000">
            <a:off x="-5150" y="37628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5"/>
          <p:cNvSpPr/>
          <p:nvPr/>
        </p:nvSpPr>
        <p:spPr>
          <a:xfrm>
            <a:off x="4084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5" name="Google Shape;875;p85"/>
          <p:cNvSpPr/>
          <p:nvPr/>
        </p:nvSpPr>
        <p:spPr>
          <a:xfrm>
            <a:off x="2184251" y="1632479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6" name="Google Shape;876;p85"/>
          <p:cNvSpPr/>
          <p:nvPr/>
        </p:nvSpPr>
        <p:spPr>
          <a:xfrm>
            <a:off x="39618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7" name="Google Shape;877;p85"/>
          <p:cNvSpPr/>
          <p:nvPr/>
        </p:nvSpPr>
        <p:spPr>
          <a:xfrm>
            <a:off x="5740276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8" name="Google Shape;878;p85"/>
          <p:cNvSpPr/>
          <p:nvPr/>
        </p:nvSpPr>
        <p:spPr>
          <a:xfrm>
            <a:off x="7520838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9" name="Google Shape;879;p8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80" name="Google Shape;880;p8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81" name="Google Shape;881;p8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82" name="Google Shape;882;p8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83" name="Google Shape;883;p8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84" name="Google Shape;884;p8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85" name="Google Shape;885;p8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86" name="Google Shape;886;p8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87" name="Google Shape;887;p8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88" name="Google Shape;888;p8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889" name="Google Shape;889;p8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90" name="Google Shape;890;p8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91" name="Google Shape;891;p8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92" name="Google Shape;892;p8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an objective. </a:t>
            </a:r>
            <a:endParaRPr/>
          </a:p>
        </p:txBody>
      </p:sp>
      <p:sp>
        <p:nvSpPr>
          <p:cNvPr id="893" name="Google Shape;893;p8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deliverable</a:t>
            </a:r>
            <a:endParaRPr/>
          </a:p>
        </p:txBody>
      </p:sp>
      <p:sp>
        <p:nvSpPr>
          <p:cNvPr id="894" name="Google Shape;894;p8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milestone </a:t>
            </a:r>
            <a:endParaRPr/>
          </a:p>
        </p:txBody>
      </p:sp>
      <p:sp>
        <p:nvSpPr>
          <p:cNvPr id="895" name="Google Shape;895;p8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896" name="Google Shape;896;p8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897" name="Google Shape;897;p8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898" name="Google Shape;898;p8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899" name="Google Shape;899;p8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00" name="Google Shape;900;p8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01" name="Google Shape;901;p8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ROADMAP</a:t>
            </a:r>
            <a:endParaRPr/>
          </a:p>
        </p:txBody>
      </p:sp>
      <p:sp>
        <p:nvSpPr>
          <p:cNvPr id="902" name="Google Shape;902;p8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03" name="Google Shape;903;p8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04" name="Google Shape;904;p8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05" name="Google Shape;905;p8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06" name="Google Shape;906;p8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name</a:t>
            </a:r>
            <a:endParaRPr/>
          </a:p>
        </p:txBody>
      </p:sp>
      <p:grpSp>
        <p:nvGrpSpPr>
          <p:cNvPr id="907" name="Google Shape;907;p85"/>
          <p:cNvGrpSpPr/>
          <p:nvPr/>
        </p:nvGrpSpPr>
        <p:grpSpPr>
          <a:xfrm>
            <a:off x="173652" y="3215713"/>
            <a:ext cx="7220388" cy="1412357"/>
            <a:chOff x="173652" y="3215713"/>
            <a:chExt cx="7220388" cy="1412357"/>
          </a:xfrm>
        </p:grpSpPr>
        <p:sp>
          <p:nvSpPr>
            <p:cNvPr id="908" name="Google Shape;908;p85"/>
            <p:cNvSpPr/>
            <p:nvPr/>
          </p:nvSpPr>
          <p:spPr>
            <a:xfrm>
              <a:off x="1736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09" name="Google Shape;909;p85"/>
            <p:cNvSpPr/>
            <p:nvPr/>
          </p:nvSpPr>
          <p:spPr>
            <a:xfrm>
              <a:off x="1736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0" name="Google Shape;910;p85"/>
            <p:cNvSpPr/>
            <p:nvPr/>
          </p:nvSpPr>
          <p:spPr>
            <a:xfrm>
              <a:off x="1736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1" name="Google Shape;911;p85"/>
            <p:cNvSpPr/>
            <p:nvPr/>
          </p:nvSpPr>
          <p:spPr>
            <a:xfrm>
              <a:off x="19494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2" name="Google Shape;912;p85"/>
            <p:cNvSpPr/>
            <p:nvPr/>
          </p:nvSpPr>
          <p:spPr>
            <a:xfrm>
              <a:off x="19494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3" name="Google Shape;913;p85"/>
            <p:cNvSpPr/>
            <p:nvPr/>
          </p:nvSpPr>
          <p:spPr>
            <a:xfrm>
              <a:off x="19494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4" name="Google Shape;914;p85"/>
            <p:cNvSpPr/>
            <p:nvPr/>
          </p:nvSpPr>
          <p:spPr>
            <a:xfrm>
              <a:off x="7286040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5" name="Google Shape;915;p85"/>
            <p:cNvSpPr/>
            <p:nvPr/>
          </p:nvSpPr>
          <p:spPr>
            <a:xfrm>
              <a:off x="7286040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6" name="Google Shape;916;p85"/>
            <p:cNvSpPr/>
            <p:nvPr/>
          </p:nvSpPr>
          <p:spPr>
            <a:xfrm>
              <a:off x="55039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7" name="Google Shape;917;p85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8" name="Google Shape;918;p85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19" name="Google Shape;919;p85"/>
            <p:cNvSpPr/>
            <p:nvPr/>
          </p:nvSpPr>
          <p:spPr>
            <a:xfrm>
              <a:off x="7286040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20" name="Google Shape;920;p8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deliverable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8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milestone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8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a milestone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85"/>
          <p:cNvSpPr/>
          <p:nvPr/>
        </p:nvSpPr>
        <p:spPr>
          <a:xfrm>
            <a:off x="3729852" y="4520063"/>
            <a:ext cx="108000" cy="1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924" name="Google Shape;924;p85"/>
          <p:cNvGrpSpPr/>
          <p:nvPr/>
        </p:nvGrpSpPr>
        <p:grpSpPr>
          <a:xfrm>
            <a:off x="5505602" y="3867888"/>
            <a:ext cx="108000" cy="760175"/>
            <a:chOff x="3729127" y="3215713"/>
            <a:chExt cx="108000" cy="760175"/>
          </a:xfrm>
        </p:grpSpPr>
        <p:sp>
          <p:nvSpPr>
            <p:cNvPr id="925" name="Google Shape;925;p85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26" name="Google Shape;926;p85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cxnSp>
        <p:nvCxnSpPr>
          <p:cNvPr id="927" name="Google Shape;927;p85"/>
          <p:cNvCxnSpPr/>
          <p:nvPr/>
        </p:nvCxnSpPr>
        <p:spPr>
          <a:xfrm rot="10800000">
            <a:off x="2276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85"/>
          <p:cNvCxnSpPr/>
          <p:nvPr/>
        </p:nvCxnSpPr>
        <p:spPr>
          <a:xfrm rot="10800000">
            <a:off x="2003453" y="3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85"/>
          <p:cNvCxnSpPr/>
          <p:nvPr/>
        </p:nvCxnSpPr>
        <p:spPr>
          <a:xfrm rot="10800000">
            <a:off x="3781056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p85"/>
          <p:cNvCxnSpPr/>
          <p:nvPr/>
        </p:nvCxnSpPr>
        <p:spPr>
          <a:xfrm rot="10800000">
            <a:off x="5559484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1" name="Google Shape;931;p85"/>
          <p:cNvCxnSpPr/>
          <p:nvPr/>
        </p:nvCxnSpPr>
        <p:spPr>
          <a:xfrm rot="10800000">
            <a:off x="73400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6"/>
          <p:cNvSpPr/>
          <p:nvPr/>
        </p:nvSpPr>
        <p:spPr>
          <a:xfrm>
            <a:off x="34335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7" name="Google Shape;937;p86"/>
          <p:cNvSpPr/>
          <p:nvPr/>
        </p:nvSpPr>
        <p:spPr>
          <a:xfrm>
            <a:off x="2120876" y="635806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8" name="Google Shape;938;p86"/>
          <p:cNvSpPr/>
          <p:nvPr/>
        </p:nvSpPr>
        <p:spPr>
          <a:xfrm>
            <a:off x="389785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9" name="Google Shape;939;p86"/>
          <p:cNvSpPr/>
          <p:nvPr/>
        </p:nvSpPr>
        <p:spPr>
          <a:xfrm>
            <a:off x="5675376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0" name="Google Shape;940;p86"/>
          <p:cNvSpPr/>
          <p:nvPr/>
        </p:nvSpPr>
        <p:spPr>
          <a:xfrm>
            <a:off x="7452901" y="637681"/>
            <a:ext cx="360000" cy="3600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1" name="Google Shape;941;p86"/>
          <p:cNvSpPr/>
          <p:nvPr/>
        </p:nvSpPr>
        <p:spPr>
          <a:xfrm>
            <a:off x="408451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2" name="Google Shape;942;p86"/>
          <p:cNvSpPr/>
          <p:nvPr/>
        </p:nvSpPr>
        <p:spPr>
          <a:xfrm>
            <a:off x="2184251" y="1183062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3961851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4" name="Google Shape;944;p86"/>
          <p:cNvSpPr/>
          <p:nvPr/>
        </p:nvSpPr>
        <p:spPr>
          <a:xfrm>
            <a:off x="5740276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5" name="Google Shape;945;p86"/>
          <p:cNvSpPr/>
          <p:nvPr/>
        </p:nvSpPr>
        <p:spPr>
          <a:xfrm>
            <a:off x="7520838" y="118483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946" name="Google Shape;946;p86"/>
          <p:cNvCxnSpPr/>
          <p:nvPr/>
        </p:nvCxnSpPr>
        <p:spPr>
          <a:xfrm rot="10800000">
            <a:off x="2276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86"/>
          <p:cNvCxnSpPr/>
          <p:nvPr/>
        </p:nvCxnSpPr>
        <p:spPr>
          <a:xfrm rot="10800000">
            <a:off x="2003453" y="3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86"/>
          <p:cNvCxnSpPr/>
          <p:nvPr/>
        </p:nvCxnSpPr>
        <p:spPr>
          <a:xfrm rot="10800000">
            <a:off x="3781056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86"/>
          <p:cNvCxnSpPr/>
          <p:nvPr/>
        </p:nvCxnSpPr>
        <p:spPr>
          <a:xfrm rot="10800000">
            <a:off x="5559484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86"/>
          <p:cNvCxnSpPr/>
          <p:nvPr/>
        </p:nvCxnSpPr>
        <p:spPr>
          <a:xfrm rot="10800000">
            <a:off x="73400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p8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</p:txBody>
      </p:sp>
      <p:sp>
        <p:nvSpPr>
          <p:cNvPr id="952" name="Google Shape;952;p8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53" name="Google Shape;953;p8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54" name="Google Shape;954;p8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</p:txBody>
      </p:sp>
      <p:sp>
        <p:nvSpPr>
          <p:cNvPr id="955" name="Google Shape;955;p8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You can also call out the teams or stakeholders involved.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56" name="Google Shape;956;p8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57" name="Google Shape;957;p8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</p:txBody>
      </p:sp>
      <p:sp>
        <p:nvSpPr>
          <p:cNvPr id="958" name="Google Shape;958;p8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Mention any performance targets that should be reached during this step.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60" name="Google Shape;960;p8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61" name="Google Shape;961;p8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62" name="Google Shape;962;p8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63" name="Google Shape;963;p8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Add more info about this step. For example, deliverables, activities, marketing assets.</a:t>
            </a:r>
            <a:endParaRPr/>
          </a:p>
        </p:txBody>
      </p:sp>
      <p:sp>
        <p:nvSpPr>
          <p:cNvPr id="964" name="Google Shape;964;p8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BUSINESS ROADMAP</a:t>
            </a:r>
            <a:endParaRPr/>
          </a:p>
        </p:txBody>
      </p:sp>
      <p:sp>
        <p:nvSpPr>
          <p:cNvPr id="965" name="Google Shape;965;p8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66" name="Google Shape;966;p8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67" name="Google Shape;967;p8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68" name="Google Shape;968;p8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69" name="Google Shape;969;p8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70" name="Google Shape;970;p8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71" name="Google Shape;971;p8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72" name="Google Shape;972;p8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73" name="Google Shape;973;p8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74" name="Google Shape;974;p8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Step name</a:t>
            </a:r>
            <a:endParaRPr/>
          </a:p>
        </p:txBody>
      </p:sp>
      <p:sp>
        <p:nvSpPr>
          <p:cNvPr id="975" name="Google Shape;975;p8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76" name="Google Shape;976;p8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77" name="Google Shape;977;p8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78" name="Google Shape;978;p8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sp>
        <p:nvSpPr>
          <p:cNvPr id="979" name="Google Shape;979;p8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Describe a step needed to reach your strategic goals. </a:t>
            </a:r>
            <a:endParaRPr/>
          </a:p>
        </p:txBody>
      </p:sp>
      <p:grpSp>
        <p:nvGrpSpPr>
          <p:cNvPr id="980" name="Google Shape;980;p86"/>
          <p:cNvGrpSpPr/>
          <p:nvPr/>
        </p:nvGrpSpPr>
        <p:grpSpPr>
          <a:xfrm>
            <a:off x="174064" y="2555575"/>
            <a:ext cx="7220387" cy="1775338"/>
            <a:chOff x="174065" y="8072650"/>
            <a:chExt cx="7220387" cy="1775338"/>
          </a:xfrm>
        </p:grpSpPr>
        <p:sp>
          <p:nvSpPr>
            <p:cNvPr id="981" name="Google Shape;981;p86"/>
            <p:cNvSpPr/>
            <p:nvPr/>
          </p:nvSpPr>
          <p:spPr>
            <a:xfrm>
              <a:off x="174065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2" name="Google Shape;982;p86"/>
            <p:cNvSpPr/>
            <p:nvPr/>
          </p:nvSpPr>
          <p:spPr>
            <a:xfrm>
              <a:off x="174065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3" name="Google Shape;983;p86"/>
            <p:cNvSpPr/>
            <p:nvPr/>
          </p:nvSpPr>
          <p:spPr>
            <a:xfrm>
              <a:off x="174065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4" name="Google Shape;984;p86"/>
            <p:cNvSpPr/>
            <p:nvPr/>
          </p:nvSpPr>
          <p:spPr>
            <a:xfrm>
              <a:off x="1949865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5" name="Google Shape;985;p86"/>
            <p:cNvSpPr/>
            <p:nvPr/>
          </p:nvSpPr>
          <p:spPr>
            <a:xfrm>
              <a:off x="1949865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6" name="Google Shape;986;p86"/>
            <p:cNvSpPr/>
            <p:nvPr/>
          </p:nvSpPr>
          <p:spPr>
            <a:xfrm>
              <a:off x="1949865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7" name="Google Shape;987;p86"/>
            <p:cNvSpPr/>
            <p:nvPr/>
          </p:nvSpPr>
          <p:spPr>
            <a:xfrm>
              <a:off x="3727464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8" name="Google Shape;988;p86"/>
            <p:cNvSpPr/>
            <p:nvPr/>
          </p:nvSpPr>
          <p:spPr>
            <a:xfrm>
              <a:off x="3727464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89" name="Google Shape;989;p86"/>
            <p:cNvSpPr/>
            <p:nvPr/>
          </p:nvSpPr>
          <p:spPr>
            <a:xfrm>
              <a:off x="5505890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0" name="Google Shape;990;p86"/>
            <p:cNvSpPr/>
            <p:nvPr/>
          </p:nvSpPr>
          <p:spPr>
            <a:xfrm>
              <a:off x="5505890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1" name="Google Shape;991;p86"/>
            <p:cNvSpPr/>
            <p:nvPr/>
          </p:nvSpPr>
          <p:spPr>
            <a:xfrm>
              <a:off x="7286452" y="891386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2" name="Google Shape;992;p86"/>
            <p:cNvSpPr/>
            <p:nvPr/>
          </p:nvSpPr>
          <p:spPr>
            <a:xfrm>
              <a:off x="7286452" y="8072650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3" name="Google Shape;993;p86"/>
            <p:cNvSpPr/>
            <p:nvPr/>
          </p:nvSpPr>
          <p:spPr>
            <a:xfrm>
              <a:off x="7286452" y="97399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7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999" name="Google Shape;999;p87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1000" name="Google Shape;1000;p87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1001" name="Google Shape;1001;p87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1002" name="Google Shape;1002;p87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1003" name="Google Shape;1003;p87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brief note on the results.</a:t>
            </a:r>
            <a:endParaRPr/>
          </a:p>
        </p:txBody>
      </p:sp>
      <p:sp>
        <p:nvSpPr>
          <p:cNvPr id="1004" name="Google Shape;1004;p87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1005" name="Google Shape;1005;p87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1006" name="Google Shape;1006;p87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1007" name="Google Shape;1007;p87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1008" name="Google Shape;1008;p87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1009" name="Google Shape;1009;p87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$0,000</a:t>
            </a:r>
            <a:endParaRPr/>
          </a:p>
        </p:txBody>
      </p:sp>
      <p:sp>
        <p:nvSpPr>
          <p:cNvPr id="1010" name="Google Shape;1010;p87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1" name="Google Shape;1011;p87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2" name="Google Shape;1012;p87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3" name="Google Shape;1013;p87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4" name="Google Shape;1014;p87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5" name="Google Shape;1015;p87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1016" name="Google Shape;1016;p8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Projected results</a:t>
            </a:r>
            <a:endParaRPr/>
          </a:p>
        </p:txBody>
      </p:sp>
      <p:sp>
        <p:nvSpPr>
          <p:cNvPr id="1017" name="Google Shape;1017;p8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METRICS</a:t>
            </a:r>
            <a:endParaRPr/>
          </a:p>
        </p:txBody>
      </p:sp>
      <p:cxnSp>
        <p:nvCxnSpPr>
          <p:cNvPr id="1018" name="Google Shape;1018;p87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9" name="Google Shape;1019;p87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87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87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87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87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