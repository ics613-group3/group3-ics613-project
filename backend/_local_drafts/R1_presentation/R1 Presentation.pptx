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Hanken Grotesk Medium"/>
      <p:regular r:id="rId24"/>
      <p:bold r:id="rId25"/>
      <p:italic r:id="rId26"/>
      <p:boldItalic r:id="rId27"/>
    </p:embeddedFont>
    <p:embeddedFont>
      <p:font typeface="Neuton Light"/>
      <p:regular r:id="rId28"/>
      <p:bold r:id="rId29"/>
      <p:boldItalic r:id="rId30"/>
    </p:embeddedFont>
    <p:embeddedFont>
      <p:font typeface="Hanken Grotesk"/>
      <p:regular r:id="rId31"/>
      <p:bold r:id="rId32"/>
      <p:italic r:id="rId33"/>
      <p:boldItalic r:id="rId34"/>
    </p:embeddedFont>
    <p:embeddedFont>
      <p:font typeface="Hanken Grotesk SemiBold"/>
      <p:regular r:id="rId35"/>
      <p:bold r:id="rId36"/>
      <p:italic r:id="rId37"/>
      <p:boldItalic r:id="rId38"/>
    </p:embeddedFont>
    <p:embeddedFont>
      <p:font typeface="Neuton"/>
      <p:regular r:id="rId39"/>
      <p:bold r:id="rId40"/>
      <p:italic r:id="rId41"/>
    </p:embeddedFont>
    <p:embeddedFont>
      <p:font typeface="Azeret Mono"/>
      <p:regular r:id="rId42"/>
      <p:bold r:id="rId43"/>
      <p:italic r:id="rId44"/>
      <p:boldItalic r:id="rId45"/>
    </p:embeddedFont>
    <p:embeddedFont>
      <p:font typeface="Hanken Grotesk Light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font" Target="fonts/HankenGroteskMedium-regular.fntdata"/><Relationship Id="rId25" Type="http://schemas.openxmlformats.org/officeDocument/2006/relationships/font" Target="fonts/HankenGroteskMedium-bold.fntdata"/><Relationship Id="rId26" Type="http://schemas.openxmlformats.org/officeDocument/2006/relationships/font" Target="fonts/HankenGroteskMedium-italic.fntdata"/><Relationship Id="rId27" Type="http://schemas.openxmlformats.org/officeDocument/2006/relationships/font" Target="fonts/HankenGroteskMedium-boldItalic.fntdata"/><Relationship Id="rId28" Type="http://schemas.openxmlformats.org/officeDocument/2006/relationships/font" Target="fonts/NeutonLight-regular.fntdata"/><Relationship Id="rId29" Type="http://schemas.openxmlformats.org/officeDocument/2006/relationships/font" Target="fonts/NeutonLight-bold.fntdata"/><Relationship Id="rId30" Type="http://schemas.openxmlformats.org/officeDocument/2006/relationships/font" Target="fonts/NeutonLight-boldItalic.fntdata"/><Relationship Id="rId31" Type="http://schemas.openxmlformats.org/officeDocument/2006/relationships/font" Target="fonts/HankenGrotesk-regular.fntdata"/><Relationship Id="rId32" Type="http://schemas.openxmlformats.org/officeDocument/2006/relationships/font" Target="fonts/HankenGrotesk-bold.fntdata"/><Relationship Id="rId33" Type="http://schemas.openxmlformats.org/officeDocument/2006/relationships/font" Target="fonts/HankenGrotesk-italic.fntdata"/><Relationship Id="rId34" Type="http://schemas.openxmlformats.org/officeDocument/2006/relationships/font" Target="fonts/HankenGrotesk-boldItalic.fntdata"/><Relationship Id="rId35" Type="http://schemas.openxmlformats.org/officeDocument/2006/relationships/font" Target="fonts/HankenGroteskSemiBold-regular.fntdata"/><Relationship Id="rId36" Type="http://schemas.openxmlformats.org/officeDocument/2006/relationships/font" Target="fonts/HankenGroteskSemiBold-bold.fntdata"/><Relationship Id="rId37" Type="http://schemas.openxmlformats.org/officeDocument/2006/relationships/font" Target="fonts/HankenGroteskSemiBold-italic.fntdata"/><Relationship Id="rId38" Type="http://schemas.openxmlformats.org/officeDocument/2006/relationships/font" Target="fonts/HankenGroteskSemiBold-boldItalic.fntdata"/><Relationship Id="rId39" Type="http://schemas.openxmlformats.org/officeDocument/2006/relationships/font" Target="fonts/Neuton-regular.fntdata"/><Relationship Id="rId40" Type="http://schemas.openxmlformats.org/officeDocument/2006/relationships/font" Target="fonts/Neuton-bold.fntdata"/><Relationship Id="rId41" Type="http://schemas.openxmlformats.org/officeDocument/2006/relationships/font" Target="fonts/Neuton-italic.fntdata"/><Relationship Id="rId42" Type="http://schemas.openxmlformats.org/officeDocument/2006/relationships/font" Target="fonts/AzeretMono-regular.fntdata"/><Relationship Id="rId43" Type="http://schemas.openxmlformats.org/officeDocument/2006/relationships/font" Target="fonts/AzeretMono-bold.fntdata"/><Relationship Id="rId44" Type="http://schemas.openxmlformats.org/officeDocument/2006/relationships/font" Target="fonts/AzeretMono-italic.fntdata"/><Relationship Id="rId45" Type="http://schemas.openxmlformats.org/officeDocument/2006/relationships/font" Target="fonts/AzeretMono-boldItalic.fntdata"/><Relationship Id="rId46" Type="http://schemas.openxmlformats.org/officeDocument/2006/relationships/font" Target="fonts/HankenGroteskLight-regular.fntdata"/><Relationship Id="rId47" Type="http://schemas.openxmlformats.org/officeDocument/2006/relationships/font" Target="fonts/HankenGroteskLight-bold.fntdata"/><Relationship Id="rId48" Type="http://schemas.openxmlformats.org/officeDocument/2006/relationships/font" Target="fonts/HankenGroteskLight-italic.fntdata"/><Relationship Id="rId49" Type="http://schemas.openxmlformats.org/officeDocument/2006/relationships/font" Target="fonts/HankenGrotesk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ee4022de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ee4022de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Lead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ee4022de9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ee4022de9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Frontend, Backend, DevOps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ee4022de9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ee4022de9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ee4022de9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ee4022de9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ee4022de9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ee4022de9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Lead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ee4022de9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ee4022de9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QA Lead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ee4022de9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ee4022de9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lead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f0ad6c83ac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f0ad6c83ac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f0ad6c83a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f0ad6c83a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ee4022de9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ee4022de9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f0ad6c83a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f0ad6c83a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f0ad6c83ac_0_1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f0ad6c83ac_0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f0ad6c83ac_0_1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f0ad6c83ac_0_1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f0ad6c83ac_0_1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f0ad6c83ac_0_1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f0ad6c83ac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f0ad6c83ac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f0ad6c83ac_0_1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f0ad6c83ac_0_1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4" name="Google Shape;74;p15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6" name="Google Shape;76;p15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8" name="Google Shape;78;p15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1" name="Google Shape;81;p15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6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6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" name="Google Shape;96;p16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" name="Google Shape;99;p16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16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1" name="Google Shape;101;p16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16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17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7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17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17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7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7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7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7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7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32" name="Google Shape;132;p18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18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1" name="Google Shape;141;p19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2" name="Google Shape;142;p19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43" name="Google Shape;143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46" name="Google Shape;146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49" name="Google Shape;149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52" name="Google Shape;152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6" name="Google Shape;166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8" name="Google Shape;168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0" name="Google Shape;170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2" name="Google Shape;172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2" name="Google Shape;182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3" name="Google Shape;183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4" name="Google Shape;234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7" name="Google Shape;237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8" name="Google Shape;238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9" name="Google Shape;239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7" name="Google Shape;287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9" name="Google Shape;289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0" name="Google Shape;290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3" name="Google Shape;313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4" name="Google Shape;314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5" name="Google Shape;315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6" name="Google Shape;316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7" name="Google Shape;317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3" name="Google Shape;323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5" name="Google Shape;325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28" name="Google Shape;328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2" name="Google Shape;332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3" name="Google Shape;333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" name="Google Shape;337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8" name="Google Shape;338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1" name="Google Shape;341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2" name="Google Shape;342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3" name="Google Shape;343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6" name="Google Shape;346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4" name="Google Shape;354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7" name="Google Shape;357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8" name="Google Shape;358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3" name="Google Shape;363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4" name="Google Shape;364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5" name="Google Shape;365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4" name="Google Shape;384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7" name="Google Shape;387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9" name="Google Shape;389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4" name="Google Shape;394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95" name="Google Shape;395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7" name="Google Shape;397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0" name="Google Shape;400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8" name="Google Shape;408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9" name="Google Shape;409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0" name="Google Shape;410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1" name="Google Shape;411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2" name="Google Shape;412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4" name="Google Shape;414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5" name="Google Shape;415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6" name="Google Shape;416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7" name="Google Shape;427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8" name="Google Shape;428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1" name="Google Shape;431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2" name="Google Shape;432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8" name="Google Shape;438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9" name="Google Shape;439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1" name="Google Shape;441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3" name="Google Shape;443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6" name="Google Shape;446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50" name="Google Shape;450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51" name="Google Shape;451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3" name="Google Shape;453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4" name="Google Shape;454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5" name="Google Shape;455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7" name="Google Shape;467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2" name="Google Shape;472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5" name="Google Shape;475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5" name="Google Shape;495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97" name="Google Shape;497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98" name="Google Shape;498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00" name="Google Shape;500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5" name="Google Shape;505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1" name="Google Shape;511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2" name="Google Shape;512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3" name="Google Shape;513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6" name="Google Shape;516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7" name="Google Shape;517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2" name="Google Shape;522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3" name="Google Shape;523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4" name="Google Shape;524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1" name="Google Shape;541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3" name="Google Shape;543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5" name="Google Shape;545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8" name="Google Shape;56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9" name="Google Shape;56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4" name="Google Shape;574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9" name="Google Shape;579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0" name="Google Shape;580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9" name="Google Shape;589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1" name="Google Shape;591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2" name="Google Shape;592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3" name="Google Shape;593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4" name="Google Shape;594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8" name="Google Shape;598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4" name="Google Shape;604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9" name="Google Shape;609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2" name="Google Shape;612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9" name="Google Shape;619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0" name="Google Shape;620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5" name="Google Shape;625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8" name="Google Shape;628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2" name="Google Shape;632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3" name="Google Shape;633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9" name="Google Shape;639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42" name="Google Shape;642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3" name="Google Shape;643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5" name="Google Shape;655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54.xml"/><Relationship Id="rId44" Type="http://schemas.openxmlformats.org/officeDocument/2006/relationships/slideLayout" Target="../slideLayouts/slideLayout55.xml"/><Relationship Id="rId45" Type="http://schemas.openxmlformats.org/officeDocument/2006/relationships/slideLayout" Target="../slideLayouts/slideLayout56.xml"/><Relationship Id="rId4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 Project Demo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Neighborhood Tool Sharing</a:t>
            </a:r>
            <a:endParaRPr i="1"/>
          </a:p>
        </p:txBody>
      </p:sp>
      <p:sp>
        <p:nvSpPr>
          <p:cNvPr id="663" name="Google Shape;663;p59"/>
          <p:cNvSpPr txBox="1"/>
          <p:nvPr>
            <p:ph idx="1" type="subTitle"/>
          </p:nvPr>
        </p:nvSpPr>
        <p:spPr>
          <a:xfrm>
            <a:off x="311700" y="34452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9734"/>
              <a:buNone/>
            </a:pPr>
            <a:r>
              <a:rPr b="1" lang="en" sz="1880"/>
              <a:t>Team Members</a:t>
            </a:r>
            <a:endParaRPr b="1" sz="188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9734"/>
              <a:buNone/>
            </a:pPr>
            <a:r>
              <a:rPr lang="en" sz="1880"/>
              <a:t>Rion Sawabe     Ivan Wu     Yafei Wang     Nick Fairhart     Loreto Coloma</a:t>
            </a:r>
            <a:endParaRPr sz="1880"/>
          </a:p>
        </p:txBody>
      </p:sp>
      <p:sp>
        <p:nvSpPr>
          <p:cNvPr id="664" name="Google Shape;664;p59"/>
          <p:cNvSpPr txBox="1"/>
          <p:nvPr/>
        </p:nvSpPr>
        <p:spPr>
          <a:xfrm>
            <a:off x="571500" y="381000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F6368"/>
                </a:solidFill>
              </a:rPr>
              <a:t>Group 3 | ICS 613</a:t>
            </a:r>
            <a:endParaRPr sz="1100">
              <a:solidFill>
                <a:srgbClr val="5F6368"/>
              </a:solidFill>
            </a:endParaRPr>
          </a:p>
        </p:txBody>
      </p:sp>
      <p:sp>
        <p:nvSpPr>
          <p:cNvPr id="665" name="Google Shape;665;p59"/>
          <p:cNvSpPr txBox="1"/>
          <p:nvPr/>
        </p:nvSpPr>
        <p:spPr>
          <a:xfrm>
            <a:off x="6286500" y="381000"/>
            <a:ext cx="228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F6368"/>
                </a:solidFill>
                <a:latin typeface="Azeret Mono"/>
                <a:ea typeface="Azeret Mono"/>
                <a:cs typeface="Azeret Mono"/>
                <a:sym typeface="Azeret Mono"/>
              </a:rPr>
              <a:t>Summer 2026</a:t>
            </a:r>
            <a:endParaRPr sz="1100">
              <a:solidFill>
                <a:srgbClr val="5F6368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400" b="1">
                <a:solidFill>
                  <a:srgbClr val="333333"/>
                </a:solidFill>
              </a:rPr>
              <a:t>Overview of the Domain Model and ER diagram</a:t>
            </a:r>
          </a:p>
        </p:txBody>
      </p:sp>
      <p:sp>
        <p:nvSpPr>
          <p:cNvPr id="671" name="Google Shape;671;p60"/>
          <p:cNvSpPr txBox="1"/>
          <p:nvPr>
            <p:ph idx="1" type="body"/>
          </p:nvPr>
        </p:nvSpPr>
        <p:spPr>
          <a:xfrm>
            <a:off x="311700" y="1152475"/>
            <a:ext cx="8520600" cy="6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rPr sz="1500" b="1">
                <a:solidFill>
                  <a:srgbClr val="1A73E8"/>
                </a:solidFill>
              </a:rPr>
              <a:t>8 entities, 5 core relationships</a:t>
            </a:r>
          </a:p>
          <a:p>
            <a:r>
              <a:rPr sz="1300" b="0">
                <a:solidFill>
                  <a:srgbClr val="333333"/>
                </a:solidFill>
              </a:rPr>
              <a:t>User, Tool, Reservation, Review, Invite, Photo, Notification, AdminAuditLog</a:t>
            </a:r>
          </a:p>
          <a:p>
            <a:r>
              <a:rPr sz="800"/>
              <a:t/>
            </a:r>
          </a:p>
          <a:p>
            <a:r>
              <a:rPr sz="1300" b="0">
                <a:solidFill>
                  <a:srgbClr val="333333"/>
                </a:solidFill>
              </a:rPr>
              <a:t>User owns Tools · User borrows via Reservations</a:t>
            </a:r>
          </a:p>
          <a:p>
            <a:r>
              <a:rPr sz="1300" b="0">
                <a:solidFill>
                  <a:srgbClr val="333333"/>
                </a:solidFill>
              </a:rPr>
              <a:t>Reservation → Review (one per party) · Tool → Photos (1–5)</a:t>
            </a:r>
          </a:p>
          <a:p>
            <a:r>
              <a:rPr sz="800"/>
              <a:t/>
            </a:r>
          </a:p>
          <a:p>
            <a:r>
              <a:rPr sz="1500" b="1">
                <a:solidFill>
                  <a:srgbClr val="1A73E8"/>
                </a:solidFill>
              </a:rPr>
              <a:t>Key DB constraints</a:t>
            </a:r>
          </a:p>
          <a:p>
            <a:r>
              <a:rPr sz="1300" b="0">
                <a:solidFill>
                  <a:srgbClr val="333333"/>
                </a:solidFill>
              </a:rPr>
              <a:t>GiST EXCLUDE on (tool_id, daterange) — no double-booking</a:t>
            </a:r>
          </a:p>
          <a:p>
            <a:r>
              <a:rPr sz="1300" b="0">
                <a:solidFill>
                  <a:srgbClr val="333333"/>
                </a:solidFill>
              </a:rPr>
              <a:t>UNIQUE (reservation_id, reviewer_id) — one review per party</a:t>
            </a:r>
          </a:p>
          <a:p>
            <a:r>
              <a:rPr sz="1300" b="0">
                <a:solidFill>
                  <a:srgbClr val="333333"/>
                </a:solidFill>
              </a:rPr>
              <a:t>Soft-delete with active-reservation guard; hard-delete for PII</a:t>
            </a:r>
          </a:p>
          <a:p>
            <a:r>
              <a:rPr sz="800"/>
              <a:t/>
            </a:r>
          </a:p>
          <a:p>
            <a:r>
              <a:rPr sz="1300" b="0">
                <a:solidFill>
                  <a:srgbClr val="333333"/>
                </a:solidFill>
              </a:rPr>
              <a:t>6 ToolCategory · 5 ToolCondition · 6 ReservationState · 14 NotificationType</a:t>
            </a:r>
          </a:p>
        </p:txBody>
      </p:sp>
      <p:pic>
        <p:nvPicPr>
          <p:cNvPr id="672" name="Picture 67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250" y="3462875"/>
            <a:ext cx="7641501" cy="40348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400" b="1">
                <a:solidFill>
                  <a:srgbClr val="333333"/>
                </a:solidFill>
              </a:rPr>
              <a:t>Major Accomplishments</a:t>
            </a:r>
          </a:p>
        </p:txBody>
      </p:sp>
      <p:sp>
        <p:nvSpPr>
          <p:cNvPr id="678" name="Google Shape;678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rPr sz="1500" b="1">
                <a:solidFill>
                  <a:srgbClr val="1A73E8"/>
                </a:solidFill>
              </a:rPr>
              <a:t>Backend — Ivan (BE Lead)</a:t>
            </a:r>
          </a:p>
          <a:p>
            <a:r>
              <a:rPr sz="800"/>
              <a:t/>
            </a:r>
          </a:p>
          <a:p>
            <a:r>
              <a:rPr sz="1300" b="0">
                <a:solidFill>
                  <a:srgbClr val="333333"/>
                </a:solidFill>
              </a:rPr>
              <a:t>46 endpoints across 7 routers — all implemented and tested</a:t>
            </a:r>
          </a:p>
          <a:p>
            <a:r>
              <a:rPr sz="1300" b="0">
                <a:solidFill>
                  <a:srgbClr val="333333"/>
                </a:solidFill>
              </a:rPr>
              <a:t>Auth (13), Tools (11), Reservations (10), Reviews (5), Notifications (2), Admin (4), Health (1)</a:t>
            </a:r>
          </a:p>
          <a:p>
            <a:r>
              <a:rPr sz="800"/>
              <a:t/>
            </a:r>
          </a:p>
          <a:p>
            <a:r>
              <a:rPr sz="1300" b="0">
                <a:solidFill>
                  <a:srgbClr val="333333"/>
                </a:solidFill>
              </a:rPr>
              <a:t>151 / 151 tests passing (pytest + httpx)</a:t>
            </a:r>
          </a:p>
          <a:p>
            <a:r>
              <a:rPr sz="800"/>
              <a:t/>
            </a:r>
          </a:p>
          <a:p>
            <a:r>
              <a:rPr sz="1500" b="1">
                <a:solidFill>
                  <a:srgbClr val="1A73E8"/>
                </a:solidFill>
              </a:rPr>
              <a:t>Infrastructure highlights</a:t>
            </a:r>
          </a:p>
          <a:p>
            <a:r>
              <a:rPr sz="1300" b="0">
                <a:solidFill>
                  <a:srgbClr val="333333"/>
                </a:solidFill>
              </a:rPr>
              <a:t>JWT access + refresh tokens with automatic rotation</a:t>
            </a:r>
          </a:p>
          <a:p>
            <a:r>
              <a:rPr sz="1300" b="0">
                <a:solidFill>
                  <a:srgbClr val="333333"/>
                </a:solidFill>
              </a:rPr>
              <a:t>Rate limiting on all auth endpoints, configurable per environment</a:t>
            </a:r>
          </a:p>
          <a:p>
            <a:r>
              <a:rPr sz="1300" b="0">
                <a:solidFill>
                  <a:srgbClr val="333333"/>
                </a:solidFill>
              </a:rPr>
              <a:t>GiST EXCLUDE constraint prevents overlapping reservations at DB level</a:t>
            </a:r>
          </a:p>
          <a:p>
            <a:r>
              <a:rPr sz="1300" b="0">
                <a:solidFill>
                  <a:srgbClr val="333333"/>
                </a:solidFill>
              </a:rPr>
              <a:t>APScheduler: auto-cancel stale pickups, overdue escalation, token cleanup</a:t>
            </a:r>
          </a:p>
          <a:p>
            <a:r>
              <a:rPr sz="1300" b="0">
                <a:solidFill>
                  <a:srgbClr val="333333"/>
                </a:solidFill>
              </a:rPr>
              <a:t>Photo uploads: multi-file, magic-byte validated, 5 MB cap, disk storage</a:t>
            </a:r>
          </a:p>
          <a:p>
            <a:r>
              <a:rPr sz="800"/>
              <a:t/>
            </a:r>
          </a:p>
          <a:p>
            <a:r>
              <a:rPr sz="1500" b="1">
                <a:solidFill>
                  <a:srgbClr val="1A73E8"/>
                </a:solidFill>
              </a:rPr>
              <a:t>Frontend — Yafei (FE Lead)</a:t>
            </a:r>
          </a:p>
          <a:p>
            <a:r>
              <a:rPr sz="1300" b="0">
                <a:solidFill>
                  <a:srgbClr val="333333"/>
                </a:solidFill>
              </a:rPr>
              <a:t>28 pages across auth, tool CRUD, reservations, reviews, admin, notifications</a:t>
            </a:r>
          </a:p>
          <a:p>
            <a:r>
              <a:rPr sz="1300" b="0">
                <a:solidFill>
                  <a:srgbClr val="333333"/>
                </a:solidFill>
              </a:rPr>
              <a:t>AuthContext with token refresh, RequireAdmin guard, responsive layout</a:t>
            </a:r>
          </a:p>
          <a:p>
            <a:r>
              <a:rPr sz="1300" b="0">
                <a:solidFill>
                  <a:srgbClr val="333333"/>
                </a:solidFill>
              </a:rPr>
              <a:t>Integration with backend in progress per API contract document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Changes (if any)</a:t>
            </a:r>
            <a:endParaRPr/>
          </a:p>
        </p:txBody>
      </p:sp>
      <p:sp>
        <p:nvSpPr>
          <p:cNvPr id="684" name="Google Shape;684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Approach (changes, if any)</a:t>
            </a:r>
            <a:endParaRPr/>
          </a:p>
        </p:txBody>
      </p:sp>
      <p:sp>
        <p:nvSpPr>
          <p:cNvPr id="690" name="Google Shape;690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Risks &amp; Mitigation Strategies Update (if any)</a:t>
            </a:r>
            <a:endParaRPr/>
          </a:p>
        </p:txBody>
      </p:sp>
      <p:sp>
        <p:nvSpPr>
          <p:cNvPr id="696" name="Google Shape;696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Were there any risks identified in Project Initiation that materialized?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How were they addressed?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User Story 18 Auto-Cancel Overdue: </a:t>
            </a:r>
            <a:r>
              <a:rPr lang="en" sz="1500">
                <a:solidFill>
                  <a:schemeClr val="dk1"/>
                </a:solidFill>
              </a:rPr>
              <a:t>As the system, I want to automatically cancel reservations that are never picked up after a grace period, so that tool availability is not indefinitely blocked.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Job Runner (Celery + Redis):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Assurance Metrics</a:t>
            </a:r>
            <a:endParaRPr/>
          </a:p>
        </p:txBody>
      </p:sp>
      <p:sp>
        <p:nvSpPr>
          <p:cNvPr id="702" name="Google Shape;702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Defects reported, fixed, open,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quality metrics, unit test coverage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</a:t>
            </a:r>
            <a:endParaRPr/>
          </a:p>
        </p:txBody>
      </p:sp>
      <p:sp>
        <p:nvSpPr>
          <p:cNvPr id="708" name="Google Shape;708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Missed/Postponed </a:t>
            </a:r>
            <a:r>
              <a:rPr lang="en"/>
              <a:t>milestones</a:t>
            </a:r>
            <a:r>
              <a:rPr lang="en"/>
              <a:t> (Why?)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Upcoming milestones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What will be delivered at these milestones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7"/>
          <p:cNvSpPr/>
          <p:nvPr/>
        </p:nvSpPr>
        <p:spPr>
          <a:xfrm>
            <a:off x="228051" y="1218601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4" name="Google Shape;714;p67"/>
          <p:cNvSpPr/>
          <p:nvPr/>
        </p:nvSpPr>
        <p:spPr>
          <a:xfrm>
            <a:off x="3324976" y="1218601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5" name="Google Shape;715;p67"/>
          <p:cNvSpPr/>
          <p:nvPr/>
        </p:nvSpPr>
        <p:spPr>
          <a:xfrm>
            <a:off x="6421226" y="1218601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6" name="Google Shape;716;p67"/>
          <p:cNvSpPr txBox="1"/>
          <p:nvPr>
            <p:ph idx="3" type="title"/>
          </p:nvPr>
        </p:nvSpPr>
        <p:spPr>
          <a:xfrm>
            <a:off x="226825" y="193364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Functionality</a:t>
            </a:r>
            <a:endParaRPr/>
          </a:p>
        </p:txBody>
      </p:sp>
      <p:sp>
        <p:nvSpPr>
          <p:cNvPr id="717" name="Google Shape;717;p67"/>
          <p:cNvSpPr txBox="1"/>
          <p:nvPr>
            <p:ph idx="4" type="title"/>
          </p:nvPr>
        </p:nvSpPr>
        <p:spPr>
          <a:xfrm>
            <a:off x="3324053" y="1933645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Usability</a:t>
            </a:r>
            <a:endParaRPr/>
          </a:p>
        </p:txBody>
      </p:sp>
      <p:sp>
        <p:nvSpPr>
          <p:cNvPr id="718" name="Google Shape;718;p67"/>
          <p:cNvSpPr txBox="1"/>
          <p:nvPr>
            <p:ph idx="5" type="title"/>
          </p:nvPr>
        </p:nvSpPr>
        <p:spPr>
          <a:xfrm>
            <a:off x="6420727" y="1933645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Admin Tools</a:t>
            </a:r>
            <a:endParaRPr/>
          </a:p>
        </p:txBody>
      </p:sp>
      <p:sp>
        <p:nvSpPr>
          <p:cNvPr id="719" name="Google Shape;719;p67"/>
          <p:cNvSpPr txBox="1"/>
          <p:nvPr>
            <p:ph idx="7" type="title"/>
          </p:nvPr>
        </p:nvSpPr>
        <p:spPr>
          <a:xfrm>
            <a:off x="226006" y="336554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Admin Tools</a:t>
            </a:r>
            <a:endParaRPr/>
          </a:p>
        </p:txBody>
      </p:sp>
      <p:sp>
        <p:nvSpPr>
          <p:cNvPr id="720" name="Google Shape;720;p67"/>
          <p:cNvSpPr txBox="1"/>
          <p:nvPr>
            <p:ph idx="21" type="title"/>
          </p:nvPr>
        </p:nvSpPr>
        <p:spPr>
          <a:xfrm>
            <a:off x="3322845" y="3365553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R1 Retrospective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21" name="Google Shape;721;p67"/>
          <p:cNvSpPr txBox="1"/>
          <p:nvPr>
            <p:ph idx="15" type="title"/>
          </p:nvPr>
        </p:nvSpPr>
        <p:spPr>
          <a:xfrm>
            <a:off x="586800" y="1218595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Deferred User Stories</a:t>
            </a:r>
            <a:endParaRPr/>
          </a:p>
        </p:txBody>
      </p:sp>
      <p:sp>
        <p:nvSpPr>
          <p:cNvPr id="722" name="Google Shape;722;p67"/>
          <p:cNvSpPr txBox="1"/>
          <p:nvPr>
            <p:ph idx="16" type="title"/>
          </p:nvPr>
        </p:nvSpPr>
        <p:spPr>
          <a:xfrm>
            <a:off x="3684063" y="1218595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Improvements</a:t>
            </a:r>
            <a:endParaRPr/>
          </a:p>
        </p:txBody>
      </p:sp>
      <p:sp>
        <p:nvSpPr>
          <p:cNvPr id="723" name="Google Shape;723;p67"/>
          <p:cNvSpPr txBox="1"/>
          <p:nvPr>
            <p:ph idx="17" type="title"/>
          </p:nvPr>
        </p:nvSpPr>
        <p:spPr>
          <a:xfrm>
            <a:off x="6781038" y="1218595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TBD/Icebox</a:t>
            </a:r>
            <a:endParaRPr/>
          </a:p>
        </p:txBody>
      </p:sp>
      <p:sp>
        <p:nvSpPr>
          <p:cNvPr id="724" name="Google Shape;724;p67"/>
          <p:cNvSpPr txBox="1"/>
          <p:nvPr>
            <p:ph idx="2" type="title"/>
          </p:nvPr>
        </p:nvSpPr>
        <p:spPr>
          <a:xfrm>
            <a:off x="3324700" y="1218595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0" wrap="square" tIns="91425">
            <a:noAutofit/>
          </a:bodyPr>
          <a:lstStyle/>
          <a:p>
            <a:pPr indent="0" lvl="0" marL="0" marR="720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725" name="Google Shape;725;p67"/>
          <p:cNvSpPr txBox="1"/>
          <p:nvPr>
            <p:ph idx="6" type="title"/>
          </p:nvPr>
        </p:nvSpPr>
        <p:spPr>
          <a:xfrm>
            <a:off x="6421500" y="1218595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6480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726" name="Google Shape;726;p67"/>
          <p:cNvSpPr txBox="1"/>
          <p:nvPr>
            <p:ph type="title"/>
          </p:nvPr>
        </p:nvSpPr>
        <p:spPr>
          <a:xfrm>
            <a:off x="225575" y="121859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727" name="Google Shape;727;p67"/>
          <p:cNvSpPr txBox="1"/>
          <p:nvPr>
            <p:ph idx="25" type="body"/>
          </p:nvPr>
        </p:nvSpPr>
        <p:spPr>
          <a:xfrm>
            <a:off x="225725" y="216782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Timezone normalization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Reservation messaging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Notification center UI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Member: Reporting a listing</a:t>
            </a:r>
            <a:endParaRPr/>
          </a:p>
        </p:txBody>
      </p:sp>
      <p:sp>
        <p:nvSpPr>
          <p:cNvPr id="728" name="Google Shape;728;p67"/>
          <p:cNvSpPr txBox="1"/>
          <p:nvPr>
            <p:ph idx="26" type="body"/>
          </p:nvPr>
        </p:nvSpPr>
        <p:spPr>
          <a:xfrm>
            <a:off x="3321503" y="2167819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Pagination on all list endpoints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Advanced search filters</a:t>
            </a:r>
            <a:endParaRPr/>
          </a:p>
        </p:txBody>
      </p:sp>
      <p:sp>
        <p:nvSpPr>
          <p:cNvPr id="729" name="Google Shape;729;p67"/>
          <p:cNvSpPr txBox="1"/>
          <p:nvPr>
            <p:ph idx="27" type="body"/>
          </p:nvPr>
        </p:nvSpPr>
        <p:spPr>
          <a:xfrm>
            <a:off x="6417275" y="2167820"/>
            <a:ext cx="25296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Managing tool categories (CRUD API)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Generate community moderation reports</a:t>
            </a:r>
            <a:endParaRPr/>
          </a:p>
        </p:txBody>
      </p:sp>
      <p:sp>
        <p:nvSpPr>
          <p:cNvPr id="730" name="Google Shape;730;p67"/>
          <p:cNvSpPr txBox="1"/>
          <p:nvPr>
            <p:ph idx="22" type="body"/>
          </p:nvPr>
        </p:nvSpPr>
        <p:spPr>
          <a:xfrm>
            <a:off x="225725" y="359972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Review reports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Track violations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Suspend/reactivate a member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Moderation history</a:t>
            </a:r>
            <a:endParaRPr/>
          </a:p>
        </p:txBody>
      </p:sp>
      <p:sp>
        <p:nvSpPr>
          <p:cNvPr id="731" name="Google Shape;731;p67"/>
          <p:cNvSpPr txBox="1"/>
          <p:nvPr>
            <p:ph idx="23" type="body"/>
          </p:nvPr>
        </p:nvSpPr>
        <p:spPr>
          <a:xfrm>
            <a:off x="3321503" y="3599727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Bug fixes for issues identified after R1</a:t>
            </a:r>
            <a:endParaRPr/>
          </a:p>
        </p:txBody>
      </p:sp>
      <p:cxnSp>
        <p:nvCxnSpPr>
          <p:cNvPr id="732" name="Google Shape;732;p67"/>
          <p:cNvCxnSpPr/>
          <p:nvPr/>
        </p:nvCxnSpPr>
        <p:spPr>
          <a:xfrm rot="10800000">
            <a:off x="-5575" y="3138895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3" name="Google Shape;733;p67"/>
          <p:cNvCxnSpPr/>
          <p:nvPr/>
        </p:nvCxnSpPr>
        <p:spPr>
          <a:xfrm rot="10800000">
            <a:off x="-6427" y="1704595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4" name="Google Shape;734;p67"/>
          <p:cNvCxnSpPr/>
          <p:nvPr/>
        </p:nvCxnSpPr>
        <p:spPr>
          <a:xfrm rot="10800000">
            <a:off x="-5575" y="4419295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5" name="Google Shape;735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Next Steps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 Tool Sharing Demo</a:t>
            </a:r>
            <a:endParaRPr/>
          </a:p>
        </p:txBody>
      </p:sp>
      <p:sp>
        <p:nvSpPr>
          <p:cNvPr id="741" name="Google Shape;741;p68"/>
          <p:cNvSpPr txBox="1"/>
          <p:nvPr>
            <p:ph idx="1" type="body"/>
          </p:nvPr>
        </p:nvSpPr>
        <p:spPr>
          <a:xfrm>
            <a:off x="311700" y="1152475"/>
            <a:ext cx="8520600" cy="4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Sample text</a:t>
            </a:r>
            <a:endParaRPr/>
          </a:p>
        </p:txBody>
      </p:sp>
      <p:pic>
        <p:nvPicPr>
          <p:cNvPr id="742" name="Google Shape;74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800" y="1710825"/>
            <a:ext cx="7954409" cy="326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9"/>
          <p:cNvSpPr txBox="1"/>
          <p:nvPr>
            <p:ph type="title"/>
          </p:nvPr>
        </p:nvSpPr>
        <p:spPr>
          <a:xfrm>
            <a:off x="311700" y="445025"/>
            <a:ext cx="8520600" cy="32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Questions?</a:t>
            </a:r>
            <a:endParaRPr sz="3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 (only to prepare)</a:t>
            </a:r>
            <a:endParaRPr/>
          </a:p>
        </p:txBody>
      </p:sp>
      <p:sp>
        <p:nvSpPr>
          <p:cNvPr id="753" name="Google Shape;753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addition to demonstrating key functionality in the live demo, teams should be prepared to conduct a </a:t>
            </a:r>
            <a:r>
              <a:rPr b="1" lang="en"/>
              <a:t>code walkthrough</a:t>
            </a:r>
            <a:r>
              <a:rPr lang="en"/>
              <a:t> and </a:t>
            </a:r>
            <a:r>
              <a:rPr b="1" lang="en"/>
              <a:t>explain key components of the codebase.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1"/>
          <p:cNvSpPr/>
          <p:nvPr/>
        </p:nvSpPr>
        <p:spPr>
          <a:xfrm rot="5400000">
            <a:off x="1238857" y="1711850"/>
            <a:ext cx="2208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9" name="Google Shape;759;p71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71"/>
          <p:cNvSpPr/>
          <p:nvPr/>
        </p:nvSpPr>
        <p:spPr>
          <a:xfrm rot="5400000">
            <a:off x="1274107" y="-573272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1" name="Google Shape;761;p71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71"/>
          <p:cNvSpPr/>
          <p:nvPr/>
        </p:nvSpPr>
        <p:spPr>
          <a:xfrm rot="5400000">
            <a:off x="5731432" y="-574447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3" name="Google Shape;763;p71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71"/>
          <p:cNvSpPr/>
          <p:nvPr/>
        </p:nvSpPr>
        <p:spPr>
          <a:xfrm rot="5400000">
            <a:off x="5697675" y="1710350"/>
            <a:ext cx="2205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5" name="Google Shape;765;p71"/>
          <p:cNvSpPr/>
          <p:nvPr/>
        </p:nvSpPr>
        <p:spPr>
          <a:xfrm>
            <a:off x="4815050" y="29769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71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71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71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71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SWOT</a:t>
            </a:r>
            <a:endParaRPr/>
          </a:p>
        </p:txBody>
      </p:sp>
      <p:sp>
        <p:nvSpPr>
          <p:cNvPr id="770" name="Google Shape;770;p71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Strengths</a:t>
            </a:r>
            <a:endParaRPr/>
          </a:p>
        </p:txBody>
      </p:sp>
      <p:sp>
        <p:nvSpPr>
          <p:cNvPr id="771" name="Google Shape;771;p71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Make a list of what your organization or team excels at.</a:t>
            </a:r>
            <a:endParaRPr/>
          </a:p>
          <a:p>
            <a:pPr indent="-90000" lvl="0" marL="180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"/>
              <a:t>– This is what sets you apart from the competition</a:t>
            </a:r>
            <a:r>
              <a:rPr lang="en"/>
              <a:t>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Add as many items as you need.</a:t>
            </a:r>
            <a:endParaRPr/>
          </a:p>
        </p:txBody>
      </p:sp>
      <p:sp>
        <p:nvSpPr>
          <p:cNvPr id="772" name="Google Shape;772;p71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Weaknesses</a:t>
            </a:r>
            <a:endParaRPr/>
          </a:p>
        </p:txBody>
      </p:sp>
      <p:sp>
        <p:nvSpPr>
          <p:cNvPr id="773" name="Google Shape;773;p71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Identify areas for improvement within your organization or team.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Think about what you could be doing internally to achieve better </a:t>
            </a:r>
            <a:r>
              <a:rPr lang="en"/>
              <a:t>results</a:t>
            </a:r>
            <a:r>
              <a:rPr lang="en"/>
              <a:t>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Add as many items as you want or need.</a:t>
            </a:r>
            <a:endParaRPr/>
          </a:p>
        </p:txBody>
      </p:sp>
      <p:sp>
        <p:nvSpPr>
          <p:cNvPr id="774" name="Google Shape;774;p71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775" name="Google Shape;775;p71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Call out any opportunities for growth.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These are external factors, such as market trends or platforms, that your business can leverage.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Add as many items as you want or need.</a:t>
            </a:r>
            <a:endParaRPr/>
          </a:p>
        </p:txBody>
      </p:sp>
      <p:sp>
        <p:nvSpPr>
          <p:cNvPr id="776" name="Google Shape;776;p71"/>
          <p:cNvSpPr txBox="1"/>
          <p:nvPr>
            <p:ph idx="8" type="subTitle"/>
          </p:nvPr>
        </p:nvSpPr>
        <p:spPr>
          <a:xfrm>
            <a:off x="4814750" y="29793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Threats</a:t>
            </a:r>
            <a:endParaRPr/>
          </a:p>
        </p:txBody>
      </p:sp>
      <p:sp>
        <p:nvSpPr>
          <p:cNvPr id="777" name="Google Shape;777;p71"/>
          <p:cNvSpPr txBox="1"/>
          <p:nvPr>
            <p:ph idx="4294967295" type="body"/>
          </p:nvPr>
        </p:nvSpPr>
        <p:spPr>
          <a:xfrm>
            <a:off x="4629675" y="3361192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 lnSpcReduction="10000"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</a:t>
            </a:r>
            <a:r>
              <a:rPr lang="en"/>
              <a:t> Mention any challenges, obstacles, or risks that your business is facing.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These can range from environmental factors to new market competitors.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Add as many items as you want or need.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72"/>
          <p:cNvSpPr/>
          <p:nvPr/>
        </p:nvSpPr>
        <p:spPr>
          <a:xfrm>
            <a:off x="228476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83" name="Google Shape;783;p72"/>
          <p:cNvSpPr/>
          <p:nvPr/>
        </p:nvSpPr>
        <p:spPr>
          <a:xfrm>
            <a:off x="332540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84" name="Google Shape;784;p72"/>
          <p:cNvSpPr/>
          <p:nvPr/>
        </p:nvSpPr>
        <p:spPr>
          <a:xfrm>
            <a:off x="642165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85" name="Google Shape;785;p72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786" name="Google Shape;786;p72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787" name="Google Shape;787;p72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788" name="Google Shape;788;p72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Pain points</a:t>
            </a:r>
            <a:endParaRPr/>
          </a:p>
        </p:txBody>
      </p:sp>
      <p:sp>
        <p:nvSpPr>
          <p:cNvPr id="789" name="Google Shape;789;p72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Pain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90" name="Google Shape;790;p72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Pain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91" name="Google Shape;791;p72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792" name="Google Shape;792;p72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793" name="Google Shape;793;p72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794" name="Google Shape;794;p72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795" name="Google Shape;795;p72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96" name="Google Shape;796;p72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797" name="Google Shape;797;p72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0" wrap="square" tIns="91425">
            <a:noAutofit/>
          </a:bodyPr>
          <a:lstStyle/>
          <a:p>
            <a:pPr indent="0" lvl="0" marL="0" marR="720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798" name="Google Shape;798;p72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6480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799" name="Google Shape;799;p7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/>
              <a:t>PERSONAS</a:t>
            </a:r>
            <a:endParaRPr/>
          </a:p>
        </p:txBody>
      </p:sp>
      <p:sp>
        <p:nvSpPr>
          <p:cNvPr id="800" name="Google Shape;800;p72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01" name="Google Shape;801;p72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802" name="Google Shape;802;p72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803" name="Google Shape;803;p72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804" name="Google Shape;804;p72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Describe an obstacle your persona struggles with. Think about what interferes with their needs, goals.</a:t>
            </a:r>
            <a:endParaRPr/>
          </a:p>
        </p:txBody>
      </p:sp>
      <p:sp>
        <p:nvSpPr>
          <p:cNvPr id="805" name="Google Shape;805;p72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Describe an obstacle your persona struggles with. Think about what interferes with their needs, goals.</a:t>
            </a:r>
            <a:endParaRPr/>
          </a:p>
        </p:txBody>
      </p:sp>
      <p:sp>
        <p:nvSpPr>
          <p:cNvPr id="806" name="Google Shape;806;p72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Describe an obstacle your persona struggles with. Think about what interferes with their needs, goals.</a:t>
            </a:r>
            <a:endParaRPr/>
          </a:p>
        </p:txBody>
      </p:sp>
      <p:sp>
        <p:nvSpPr>
          <p:cNvPr id="807" name="Google Shape;807;p72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sp>
        <p:nvSpPr>
          <p:cNvPr id="808" name="Google Shape;808;p72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sp>
        <p:nvSpPr>
          <p:cNvPr id="809" name="Google Shape;809;p72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cxnSp>
        <p:nvCxnSpPr>
          <p:cNvPr id="810" name="Google Shape;810;p72"/>
          <p:cNvCxnSpPr/>
          <p:nvPr/>
        </p:nvCxnSpPr>
        <p:spPr>
          <a:xfrm rot="10800000">
            <a:off x="-5150" y="24824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72"/>
          <p:cNvCxnSpPr/>
          <p:nvPr/>
        </p:nvCxnSpPr>
        <p:spPr>
          <a:xfrm rot="10800000">
            <a:off x="-6002" y="10481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72"/>
          <p:cNvCxnSpPr/>
          <p:nvPr/>
        </p:nvCxnSpPr>
        <p:spPr>
          <a:xfrm rot="10800000">
            <a:off x="-5150" y="37628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3"/>
          <p:cNvSpPr/>
          <p:nvPr/>
        </p:nvSpPr>
        <p:spPr>
          <a:xfrm>
            <a:off x="408451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18" name="Google Shape;818;p73"/>
          <p:cNvSpPr/>
          <p:nvPr/>
        </p:nvSpPr>
        <p:spPr>
          <a:xfrm>
            <a:off x="2184251" y="1632479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19" name="Google Shape;819;p73"/>
          <p:cNvSpPr/>
          <p:nvPr/>
        </p:nvSpPr>
        <p:spPr>
          <a:xfrm>
            <a:off x="3961851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0" name="Google Shape;820;p73"/>
          <p:cNvSpPr/>
          <p:nvPr/>
        </p:nvSpPr>
        <p:spPr>
          <a:xfrm>
            <a:off x="5740276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1" name="Google Shape;821;p73"/>
          <p:cNvSpPr/>
          <p:nvPr/>
        </p:nvSpPr>
        <p:spPr>
          <a:xfrm>
            <a:off x="7520838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2" name="Google Shape;822;p73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823" name="Google Shape;823;p73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 objective. </a:t>
            </a:r>
            <a:endParaRPr/>
          </a:p>
        </p:txBody>
      </p:sp>
      <p:sp>
        <p:nvSpPr>
          <p:cNvPr id="824" name="Google Shape;824;p73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deliverable</a:t>
            </a:r>
            <a:endParaRPr/>
          </a:p>
        </p:txBody>
      </p:sp>
      <p:sp>
        <p:nvSpPr>
          <p:cNvPr id="825" name="Google Shape;825;p73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milestone </a:t>
            </a:r>
            <a:endParaRPr/>
          </a:p>
        </p:txBody>
      </p:sp>
      <p:sp>
        <p:nvSpPr>
          <p:cNvPr id="826" name="Google Shape;826;p73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827" name="Google Shape;827;p73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milestone </a:t>
            </a:r>
            <a:endParaRPr/>
          </a:p>
        </p:txBody>
      </p:sp>
      <p:sp>
        <p:nvSpPr>
          <p:cNvPr id="828" name="Google Shape;828;p73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829" name="Google Shape;829;p73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deliverable</a:t>
            </a:r>
            <a:endParaRPr/>
          </a:p>
        </p:txBody>
      </p:sp>
      <p:sp>
        <p:nvSpPr>
          <p:cNvPr id="830" name="Google Shape;830;p73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milestone </a:t>
            </a:r>
            <a:endParaRPr/>
          </a:p>
        </p:txBody>
      </p:sp>
      <p:sp>
        <p:nvSpPr>
          <p:cNvPr id="831" name="Google Shape;831;p73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832" name="Google Shape;832;p73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 objective. </a:t>
            </a:r>
            <a:endParaRPr/>
          </a:p>
        </p:txBody>
      </p:sp>
      <p:sp>
        <p:nvSpPr>
          <p:cNvPr id="833" name="Google Shape;833;p73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deliverable</a:t>
            </a:r>
            <a:endParaRPr/>
          </a:p>
        </p:txBody>
      </p:sp>
      <p:sp>
        <p:nvSpPr>
          <p:cNvPr id="834" name="Google Shape;834;p73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milestone </a:t>
            </a:r>
            <a:endParaRPr/>
          </a:p>
        </p:txBody>
      </p:sp>
      <p:sp>
        <p:nvSpPr>
          <p:cNvPr id="835" name="Google Shape;835;p73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 objective. </a:t>
            </a:r>
            <a:endParaRPr/>
          </a:p>
        </p:txBody>
      </p:sp>
      <p:sp>
        <p:nvSpPr>
          <p:cNvPr id="836" name="Google Shape;836;p73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deliverable</a:t>
            </a:r>
            <a:endParaRPr/>
          </a:p>
        </p:txBody>
      </p:sp>
      <p:sp>
        <p:nvSpPr>
          <p:cNvPr id="837" name="Google Shape;837;p73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milestone </a:t>
            </a:r>
            <a:endParaRPr/>
          </a:p>
        </p:txBody>
      </p:sp>
      <p:sp>
        <p:nvSpPr>
          <p:cNvPr id="838" name="Google Shape;838;p73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39" name="Google Shape;839;p73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840" name="Google Shape;840;p73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841" name="Google Shape;841;p73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842" name="Google Shape;842;p73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843" name="Google Shape;843;p73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844" name="Google Shape;844;p7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ROADMAP</a:t>
            </a:r>
            <a:endParaRPr/>
          </a:p>
        </p:txBody>
      </p:sp>
      <p:sp>
        <p:nvSpPr>
          <p:cNvPr id="845" name="Google Shape;845;p73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846" name="Google Shape;846;p73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847" name="Google Shape;847;p73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848" name="Google Shape;848;p73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849" name="Google Shape;849;p73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name</a:t>
            </a:r>
            <a:endParaRPr/>
          </a:p>
        </p:txBody>
      </p:sp>
      <p:grpSp>
        <p:nvGrpSpPr>
          <p:cNvPr id="850" name="Google Shape;850;p73"/>
          <p:cNvGrpSpPr/>
          <p:nvPr/>
        </p:nvGrpSpPr>
        <p:grpSpPr>
          <a:xfrm>
            <a:off x="173652" y="3215713"/>
            <a:ext cx="7220388" cy="1412357"/>
            <a:chOff x="173652" y="3215713"/>
            <a:chExt cx="7220388" cy="1412357"/>
          </a:xfrm>
        </p:grpSpPr>
        <p:sp>
          <p:nvSpPr>
            <p:cNvPr id="851" name="Google Shape;851;p73"/>
            <p:cNvSpPr/>
            <p:nvPr/>
          </p:nvSpPr>
          <p:spPr>
            <a:xfrm>
              <a:off x="173652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52" name="Google Shape;852;p73"/>
            <p:cNvSpPr/>
            <p:nvPr/>
          </p:nvSpPr>
          <p:spPr>
            <a:xfrm>
              <a:off x="173652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53" name="Google Shape;853;p73"/>
            <p:cNvSpPr/>
            <p:nvPr/>
          </p:nvSpPr>
          <p:spPr>
            <a:xfrm>
              <a:off x="173652" y="4520069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54" name="Google Shape;854;p73"/>
            <p:cNvSpPr/>
            <p:nvPr/>
          </p:nvSpPr>
          <p:spPr>
            <a:xfrm>
              <a:off x="1949452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55" name="Google Shape;855;p73"/>
            <p:cNvSpPr/>
            <p:nvPr/>
          </p:nvSpPr>
          <p:spPr>
            <a:xfrm>
              <a:off x="1949452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56" name="Google Shape;856;p73"/>
            <p:cNvSpPr/>
            <p:nvPr/>
          </p:nvSpPr>
          <p:spPr>
            <a:xfrm>
              <a:off x="1949452" y="4520069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57" name="Google Shape;857;p73"/>
            <p:cNvSpPr/>
            <p:nvPr/>
          </p:nvSpPr>
          <p:spPr>
            <a:xfrm>
              <a:off x="7286040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58" name="Google Shape;858;p73"/>
            <p:cNvSpPr/>
            <p:nvPr/>
          </p:nvSpPr>
          <p:spPr>
            <a:xfrm>
              <a:off x="7286040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59" name="Google Shape;859;p73"/>
            <p:cNvSpPr/>
            <p:nvPr/>
          </p:nvSpPr>
          <p:spPr>
            <a:xfrm>
              <a:off x="5503952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60" name="Google Shape;860;p73"/>
            <p:cNvSpPr/>
            <p:nvPr/>
          </p:nvSpPr>
          <p:spPr>
            <a:xfrm>
              <a:off x="3729127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61" name="Google Shape;861;p73"/>
            <p:cNvSpPr/>
            <p:nvPr/>
          </p:nvSpPr>
          <p:spPr>
            <a:xfrm>
              <a:off x="3729127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62" name="Google Shape;862;p73"/>
            <p:cNvSpPr/>
            <p:nvPr/>
          </p:nvSpPr>
          <p:spPr>
            <a:xfrm>
              <a:off x="7286040" y="4520069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63" name="Google Shape;863;p73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a deliverable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73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a milestone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73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a milestone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73"/>
          <p:cNvSpPr/>
          <p:nvPr/>
        </p:nvSpPr>
        <p:spPr>
          <a:xfrm>
            <a:off x="3729852" y="4520063"/>
            <a:ext cx="108000" cy="10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867" name="Google Shape;867;p73"/>
          <p:cNvGrpSpPr/>
          <p:nvPr/>
        </p:nvGrpSpPr>
        <p:grpSpPr>
          <a:xfrm>
            <a:off x="5505602" y="3867888"/>
            <a:ext cx="108000" cy="760175"/>
            <a:chOff x="3729127" y="3215713"/>
            <a:chExt cx="108000" cy="760175"/>
          </a:xfrm>
        </p:grpSpPr>
        <p:sp>
          <p:nvSpPr>
            <p:cNvPr id="868" name="Google Shape;868;p73"/>
            <p:cNvSpPr/>
            <p:nvPr/>
          </p:nvSpPr>
          <p:spPr>
            <a:xfrm>
              <a:off x="3729127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69" name="Google Shape;869;p73"/>
            <p:cNvSpPr/>
            <p:nvPr/>
          </p:nvSpPr>
          <p:spPr>
            <a:xfrm>
              <a:off x="3729127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cxnSp>
        <p:nvCxnSpPr>
          <p:cNvPr id="870" name="Google Shape;870;p73"/>
          <p:cNvCxnSpPr/>
          <p:nvPr/>
        </p:nvCxnSpPr>
        <p:spPr>
          <a:xfrm rot="10800000">
            <a:off x="227650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1" name="Google Shape;871;p73"/>
          <p:cNvCxnSpPr/>
          <p:nvPr/>
        </p:nvCxnSpPr>
        <p:spPr>
          <a:xfrm rot="10800000">
            <a:off x="2003453" y="3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p73"/>
          <p:cNvCxnSpPr/>
          <p:nvPr/>
        </p:nvCxnSpPr>
        <p:spPr>
          <a:xfrm rot="10800000">
            <a:off x="3781056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3" name="Google Shape;873;p73"/>
          <p:cNvCxnSpPr/>
          <p:nvPr/>
        </p:nvCxnSpPr>
        <p:spPr>
          <a:xfrm rot="10800000">
            <a:off x="5559484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4" name="Google Shape;874;p73"/>
          <p:cNvCxnSpPr/>
          <p:nvPr/>
        </p:nvCxnSpPr>
        <p:spPr>
          <a:xfrm rot="10800000">
            <a:off x="7340050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4"/>
          <p:cNvSpPr/>
          <p:nvPr/>
        </p:nvSpPr>
        <p:spPr>
          <a:xfrm>
            <a:off x="343351" y="637681"/>
            <a:ext cx="360000" cy="3600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0" name="Google Shape;880;p74"/>
          <p:cNvSpPr/>
          <p:nvPr/>
        </p:nvSpPr>
        <p:spPr>
          <a:xfrm>
            <a:off x="2120876" y="635806"/>
            <a:ext cx="360000" cy="3600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1" name="Google Shape;881;p74"/>
          <p:cNvSpPr/>
          <p:nvPr/>
        </p:nvSpPr>
        <p:spPr>
          <a:xfrm>
            <a:off x="3897851" y="637681"/>
            <a:ext cx="360000" cy="3600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2" name="Google Shape;882;p74"/>
          <p:cNvSpPr/>
          <p:nvPr/>
        </p:nvSpPr>
        <p:spPr>
          <a:xfrm>
            <a:off x="5675376" y="637681"/>
            <a:ext cx="360000" cy="3600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3" name="Google Shape;883;p74"/>
          <p:cNvSpPr/>
          <p:nvPr/>
        </p:nvSpPr>
        <p:spPr>
          <a:xfrm>
            <a:off x="7452901" y="637681"/>
            <a:ext cx="360000" cy="3600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4" name="Google Shape;884;p74"/>
          <p:cNvSpPr/>
          <p:nvPr/>
        </p:nvSpPr>
        <p:spPr>
          <a:xfrm>
            <a:off x="408451" y="118483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5" name="Google Shape;885;p74"/>
          <p:cNvSpPr/>
          <p:nvPr/>
        </p:nvSpPr>
        <p:spPr>
          <a:xfrm>
            <a:off x="2184251" y="1183062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6" name="Google Shape;886;p74"/>
          <p:cNvSpPr/>
          <p:nvPr/>
        </p:nvSpPr>
        <p:spPr>
          <a:xfrm>
            <a:off x="3961851" y="118483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7" name="Google Shape;887;p74"/>
          <p:cNvSpPr/>
          <p:nvPr/>
        </p:nvSpPr>
        <p:spPr>
          <a:xfrm>
            <a:off x="5740276" y="118483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8" name="Google Shape;888;p74"/>
          <p:cNvSpPr/>
          <p:nvPr/>
        </p:nvSpPr>
        <p:spPr>
          <a:xfrm>
            <a:off x="7520838" y="118483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889" name="Google Shape;889;p74"/>
          <p:cNvCxnSpPr/>
          <p:nvPr/>
        </p:nvCxnSpPr>
        <p:spPr>
          <a:xfrm rot="10800000">
            <a:off x="227650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p74"/>
          <p:cNvCxnSpPr/>
          <p:nvPr/>
        </p:nvCxnSpPr>
        <p:spPr>
          <a:xfrm rot="10800000">
            <a:off x="2003453" y="3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p74"/>
          <p:cNvCxnSpPr/>
          <p:nvPr/>
        </p:nvCxnSpPr>
        <p:spPr>
          <a:xfrm rot="10800000">
            <a:off x="3781056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p74"/>
          <p:cNvCxnSpPr/>
          <p:nvPr/>
        </p:nvCxnSpPr>
        <p:spPr>
          <a:xfrm rot="10800000">
            <a:off x="5559484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3" name="Google Shape;893;p74"/>
          <p:cNvCxnSpPr/>
          <p:nvPr/>
        </p:nvCxnSpPr>
        <p:spPr>
          <a:xfrm rot="10800000">
            <a:off x="7340050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4" name="Google Shape;894;p74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You can also call out the teams or stakeholders involved.</a:t>
            </a:r>
            <a:endParaRPr/>
          </a:p>
        </p:txBody>
      </p:sp>
      <p:sp>
        <p:nvSpPr>
          <p:cNvPr id="895" name="Google Shape;895;p74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You can also call out the teams or stakeholders involved.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96" name="Google Shape;896;p74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You can also call out the teams or stakeholders involved.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97" name="Google Shape;897;p74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You can also call out the teams or stakeholders involved.</a:t>
            </a:r>
            <a:endParaRPr/>
          </a:p>
        </p:txBody>
      </p:sp>
      <p:sp>
        <p:nvSpPr>
          <p:cNvPr id="898" name="Google Shape;898;p74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You can also call out the teams or stakeholders involved.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99" name="Google Shape;899;p74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Mention any performance targets that should be reached during this step.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00" name="Google Shape;900;p74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Mention any performance targets that should be reached during this step.</a:t>
            </a:r>
            <a:endParaRPr/>
          </a:p>
        </p:txBody>
      </p:sp>
      <p:sp>
        <p:nvSpPr>
          <p:cNvPr id="901" name="Google Shape;901;p74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Mention any performance targets that should be reached during this step.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02" name="Google Shape;902;p74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more info about this step. For example, deliverables, activities, marketing assets.</a:t>
            </a:r>
            <a:endParaRPr/>
          </a:p>
        </p:txBody>
      </p:sp>
      <p:sp>
        <p:nvSpPr>
          <p:cNvPr id="903" name="Google Shape;903;p74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more info about this step. For example, deliverables, activities, marketing assets.</a:t>
            </a:r>
            <a:endParaRPr/>
          </a:p>
        </p:txBody>
      </p:sp>
      <p:sp>
        <p:nvSpPr>
          <p:cNvPr id="904" name="Google Shape;904;p74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more info about this step. For example, deliverables, activities, marketing assets.</a:t>
            </a:r>
            <a:endParaRPr/>
          </a:p>
        </p:txBody>
      </p:sp>
      <p:sp>
        <p:nvSpPr>
          <p:cNvPr id="905" name="Google Shape;905;p74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more info about this step. For example, deliverables, activities, marketing assets.</a:t>
            </a:r>
            <a:endParaRPr/>
          </a:p>
        </p:txBody>
      </p:sp>
      <p:sp>
        <p:nvSpPr>
          <p:cNvPr id="906" name="Google Shape;906;p74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more info about this step. For example, deliverables, activities, marketing assets.</a:t>
            </a:r>
            <a:endParaRPr/>
          </a:p>
        </p:txBody>
      </p:sp>
      <p:sp>
        <p:nvSpPr>
          <p:cNvPr id="907" name="Google Shape;907;p74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BUSINESS ROADMAP</a:t>
            </a:r>
            <a:endParaRPr/>
          </a:p>
        </p:txBody>
      </p:sp>
      <p:sp>
        <p:nvSpPr>
          <p:cNvPr id="908" name="Google Shape;908;p74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09" name="Google Shape;909;p74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10" name="Google Shape;910;p74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11" name="Google Shape;911;p74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912" name="Google Shape;912;p74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13" name="Google Shape;913;p74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14" name="Google Shape;914;p74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15" name="Google Shape;915;p74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16" name="Google Shape;916;p74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17" name="Google Shape;917;p74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18" name="Google Shape;918;p74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919" name="Google Shape;919;p74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920" name="Google Shape;920;p74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921" name="Google Shape;921;p74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922" name="Google Shape;922;p74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grpSp>
        <p:nvGrpSpPr>
          <p:cNvPr id="923" name="Google Shape;923;p74"/>
          <p:cNvGrpSpPr/>
          <p:nvPr/>
        </p:nvGrpSpPr>
        <p:grpSpPr>
          <a:xfrm>
            <a:off x="174064" y="2555575"/>
            <a:ext cx="7220387" cy="1775338"/>
            <a:chOff x="174065" y="8072650"/>
            <a:chExt cx="7220387" cy="1775338"/>
          </a:xfrm>
        </p:grpSpPr>
        <p:sp>
          <p:nvSpPr>
            <p:cNvPr id="924" name="Google Shape;924;p74"/>
            <p:cNvSpPr/>
            <p:nvPr/>
          </p:nvSpPr>
          <p:spPr>
            <a:xfrm>
              <a:off x="174065" y="891386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25" name="Google Shape;925;p74"/>
            <p:cNvSpPr/>
            <p:nvPr/>
          </p:nvSpPr>
          <p:spPr>
            <a:xfrm>
              <a:off x="174065" y="97399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26" name="Google Shape;926;p74"/>
            <p:cNvSpPr/>
            <p:nvPr/>
          </p:nvSpPr>
          <p:spPr>
            <a:xfrm>
              <a:off x="174065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27" name="Google Shape;927;p74"/>
            <p:cNvSpPr/>
            <p:nvPr/>
          </p:nvSpPr>
          <p:spPr>
            <a:xfrm>
              <a:off x="1949865" y="891386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28" name="Google Shape;928;p74"/>
            <p:cNvSpPr/>
            <p:nvPr/>
          </p:nvSpPr>
          <p:spPr>
            <a:xfrm>
              <a:off x="1949865" y="97399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29" name="Google Shape;929;p74"/>
            <p:cNvSpPr/>
            <p:nvPr/>
          </p:nvSpPr>
          <p:spPr>
            <a:xfrm>
              <a:off x="1949865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30" name="Google Shape;930;p74"/>
            <p:cNvSpPr/>
            <p:nvPr/>
          </p:nvSpPr>
          <p:spPr>
            <a:xfrm>
              <a:off x="3727464" y="891386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31" name="Google Shape;931;p74"/>
            <p:cNvSpPr/>
            <p:nvPr/>
          </p:nvSpPr>
          <p:spPr>
            <a:xfrm>
              <a:off x="3727464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32" name="Google Shape;932;p74"/>
            <p:cNvSpPr/>
            <p:nvPr/>
          </p:nvSpPr>
          <p:spPr>
            <a:xfrm>
              <a:off x="5505890" y="891386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33" name="Google Shape;933;p74"/>
            <p:cNvSpPr/>
            <p:nvPr/>
          </p:nvSpPr>
          <p:spPr>
            <a:xfrm>
              <a:off x="5505890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34" name="Google Shape;934;p74"/>
            <p:cNvSpPr/>
            <p:nvPr/>
          </p:nvSpPr>
          <p:spPr>
            <a:xfrm>
              <a:off x="7286452" y="891386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35" name="Google Shape;935;p74"/>
            <p:cNvSpPr/>
            <p:nvPr/>
          </p:nvSpPr>
          <p:spPr>
            <a:xfrm>
              <a:off x="7286452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36" name="Google Shape;936;p74"/>
            <p:cNvSpPr/>
            <p:nvPr/>
          </p:nvSpPr>
          <p:spPr>
            <a:xfrm>
              <a:off x="7286452" y="97399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5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942" name="Google Shape;942;p75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943" name="Google Shape;943;p75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944" name="Google Shape;944;p75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945" name="Google Shape;945;p75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946" name="Google Shape;946;p75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947" name="Google Shape;947;p75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948" name="Google Shape;948;p75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949" name="Google Shape;949;p75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950" name="Google Shape;950;p75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$0,000</a:t>
            </a:r>
            <a:endParaRPr/>
          </a:p>
        </p:txBody>
      </p:sp>
      <p:sp>
        <p:nvSpPr>
          <p:cNvPr id="951" name="Google Shape;951;p75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$0,000</a:t>
            </a:r>
            <a:endParaRPr/>
          </a:p>
        </p:txBody>
      </p:sp>
      <p:sp>
        <p:nvSpPr>
          <p:cNvPr id="952" name="Google Shape;952;p75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$0,000</a:t>
            </a:r>
            <a:endParaRPr/>
          </a:p>
        </p:txBody>
      </p:sp>
      <p:sp>
        <p:nvSpPr>
          <p:cNvPr id="953" name="Google Shape;953;p75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54" name="Google Shape;954;p75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55" name="Google Shape;955;p75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56" name="Google Shape;956;p75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57" name="Google Shape;957;p75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58" name="Google Shape;958;p75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959" name="Google Shape;959;p75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Projected results</a:t>
            </a:r>
            <a:endParaRPr/>
          </a:p>
        </p:txBody>
      </p:sp>
      <p:sp>
        <p:nvSpPr>
          <p:cNvPr id="960" name="Google Shape;960;p7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METRICS</a:t>
            </a:r>
            <a:endParaRPr/>
          </a:p>
        </p:txBody>
      </p:sp>
      <p:cxnSp>
        <p:nvCxnSpPr>
          <p:cNvPr id="961" name="Google Shape;961;p75"/>
          <p:cNvCxnSpPr/>
          <p:nvPr/>
        </p:nvCxnSpPr>
        <p:spPr>
          <a:xfrm rot="10800000">
            <a:off x="122" y="14023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2" name="Google Shape;962;p75"/>
          <p:cNvCxnSpPr/>
          <p:nvPr/>
        </p:nvCxnSpPr>
        <p:spPr>
          <a:xfrm rot="10800000">
            <a:off x="2700" y="19732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3" name="Google Shape;963;p75"/>
          <p:cNvCxnSpPr/>
          <p:nvPr/>
        </p:nvCxnSpPr>
        <p:spPr>
          <a:xfrm rot="10800000">
            <a:off x="122" y="25515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4" name="Google Shape;964;p75"/>
          <p:cNvCxnSpPr/>
          <p:nvPr/>
        </p:nvCxnSpPr>
        <p:spPr>
          <a:xfrm rot="10800000">
            <a:off x="2700" y="31224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75"/>
          <p:cNvCxnSpPr/>
          <p:nvPr/>
        </p:nvCxnSpPr>
        <p:spPr>
          <a:xfrm rot="10800000">
            <a:off x="122" y="36933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6" name="Google Shape;966;p75"/>
          <p:cNvCxnSpPr/>
          <p:nvPr/>
        </p:nvCxnSpPr>
        <p:spPr>
          <a:xfrm rot="10800000">
            <a:off x="2700" y="42642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