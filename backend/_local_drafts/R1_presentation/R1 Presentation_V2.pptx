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5" r:id="rId4"/>
    <p:sldMasterId id="2147483716" r:id="rId5"/>
    <p:sldMasterId id="214748371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Hanken Grotesk Medium"/>
      <p:regular r:id="rId20"/>
      <p:bold r:id="rId21"/>
      <p:italic r:id="rId22"/>
      <p:boldItalic r:id="rId23"/>
    </p:embeddedFont>
    <p:embeddedFont>
      <p:font typeface="Neuton Light"/>
      <p:regular r:id="rId24"/>
      <p:bold r:id="rId25"/>
      <p:boldItalic r:id="rId26"/>
    </p:embeddedFont>
    <p:embeddedFont>
      <p:font typeface="Hanken Grotesk"/>
      <p:regular r:id="rId27"/>
      <p:bold r:id="rId28"/>
      <p:italic r:id="rId29"/>
      <p:boldItalic r:id="rId30"/>
    </p:embeddedFont>
    <p:embeddedFont>
      <p:font typeface="Hanken Grotesk SemiBold"/>
      <p:regular r:id="rId31"/>
      <p:bold r:id="rId32"/>
      <p:italic r:id="rId33"/>
      <p:boldItalic r:id="rId34"/>
    </p:embeddedFont>
    <p:embeddedFont>
      <p:font typeface="Neuton"/>
      <p:regular r:id="rId35"/>
      <p:bold r:id="rId36"/>
      <p:italic r:id="rId37"/>
    </p:embeddedFont>
    <p:embeddedFont>
      <p:font typeface="Azeret Mono"/>
      <p:regular r:id="rId38"/>
      <p:bold r:id="rId39"/>
      <p:italic r:id="rId40"/>
      <p:boldItalic r:id="rId41"/>
    </p:embeddedFont>
    <p:embeddedFont>
      <p:font typeface="Hanken Grotesk Light"/>
      <p:regular r:id="rId42"/>
      <p:bold r:id="rId43"/>
      <p:italic r:id="rId44"/>
      <p:boldItalic r:id="rId45"/>
    </p:embeddedFont>
    <p:embeddedFont>
      <p:font typeface="DM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zeretMono-italic.fntdata"/><Relationship Id="rId42" Type="http://schemas.openxmlformats.org/officeDocument/2006/relationships/font" Target="fonts/HankenGroteskLight-regular.fntdata"/><Relationship Id="rId41" Type="http://schemas.openxmlformats.org/officeDocument/2006/relationships/font" Target="fonts/AzeretMono-boldItalic.fntdata"/><Relationship Id="rId44" Type="http://schemas.openxmlformats.org/officeDocument/2006/relationships/font" Target="fonts/HankenGroteskLight-italic.fntdata"/><Relationship Id="rId43" Type="http://schemas.openxmlformats.org/officeDocument/2006/relationships/font" Target="fonts/HankenGroteskLight-bold.fntdata"/><Relationship Id="rId46" Type="http://schemas.openxmlformats.org/officeDocument/2006/relationships/font" Target="fonts/DMSans-regular.fntdata"/><Relationship Id="rId45" Type="http://schemas.openxmlformats.org/officeDocument/2006/relationships/font" Target="fonts/HankenGroteskLigh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DMSans-italic.fntdata"/><Relationship Id="rId47" Type="http://schemas.openxmlformats.org/officeDocument/2006/relationships/font" Target="fonts/DMSans-bold.fntdata"/><Relationship Id="rId49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ankenGroteskSemiBold-regular.fntdata"/><Relationship Id="rId30" Type="http://schemas.openxmlformats.org/officeDocument/2006/relationships/font" Target="fonts/HankenGrotesk-boldItalic.fntdata"/><Relationship Id="rId33" Type="http://schemas.openxmlformats.org/officeDocument/2006/relationships/font" Target="fonts/HankenGroteskSemiBold-italic.fntdata"/><Relationship Id="rId32" Type="http://schemas.openxmlformats.org/officeDocument/2006/relationships/font" Target="fonts/HankenGroteskSemiBold-bold.fntdata"/><Relationship Id="rId35" Type="http://schemas.openxmlformats.org/officeDocument/2006/relationships/font" Target="fonts/Neuton-regular.fntdata"/><Relationship Id="rId34" Type="http://schemas.openxmlformats.org/officeDocument/2006/relationships/font" Target="fonts/HankenGroteskSemiBold-boldItalic.fntdata"/><Relationship Id="rId37" Type="http://schemas.openxmlformats.org/officeDocument/2006/relationships/font" Target="fonts/Neuton-italic.fntdata"/><Relationship Id="rId36" Type="http://schemas.openxmlformats.org/officeDocument/2006/relationships/font" Target="fonts/Neuton-bold.fntdata"/><Relationship Id="rId39" Type="http://schemas.openxmlformats.org/officeDocument/2006/relationships/font" Target="fonts/AzeretMono-bold.fntdata"/><Relationship Id="rId38" Type="http://schemas.openxmlformats.org/officeDocument/2006/relationships/font" Target="fonts/AzeretMono-regular.fntdata"/><Relationship Id="rId20" Type="http://schemas.openxmlformats.org/officeDocument/2006/relationships/font" Target="fonts/HankenGroteskMedium-regular.fntdata"/><Relationship Id="rId22" Type="http://schemas.openxmlformats.org/officeDocument/2006/relationships/font" Target="fonts/HankenGroteskMedium-italic.fntdata"/><Relationship Id="rId21" Type="http://schemas.openxmlformats.org/officeDocument/2006/relationships/font" Target="fonts/HankenGroteskMedium-bold.fntdata"/><Relationship Id="rId24" Type="http://schemas.openxmlformats.org/officeDocument/2006/relationships/font" Target="fonts/NeutonLight-regular.fntdata"/><Relationship Id="rId23" Type="http://schemas.openxmlformats.org/officeDocument/2006/relationships/font" Target="fonts/HankenGroteskMedium-boldItalic.fntdata"/><Relationship Id="rId26" Type="http://schemas.openxmlformats.org/officeDocument/2006/relationships/font" Target="fonts/NeutonLight-boldItalic.fntdata"/><Relationship Id="rId25" Type="http://schemas.openxmlformats.org/officeDocument/2006/relationships/font" Target="fonts/NeutonLight-bold.fntdata"/><Relationship Id="rId28" Type="http://schemas.openxmlformats.org/officeDocument/2006/relationships/font" Target="fonts/HankenGrotesk-bold.fntdata"/><Relationship Id="rId27" Type="http://schemas.openxmlformats.org/officeDocument/2006/relationships/font" Target="fonts/HankenGrotesk-regular.fntdata"/><Relationship Id="rId29" Type="http://schemas.openxmlformats.org/officeDocument/2006/relationships/font" Target="fonts/HankenGrotesk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0c842569e_3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f0c842569e_3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Backend Lead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0c842569e_3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f0c842569e_3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Frontend, Backend, DevOps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0fc4070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g3f0fc40704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e4022de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e4022de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ee4022de9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ee4022de9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e4022de9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ee4022de9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Document Lead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Were there any risks identified in Project Initiation that materialized?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n" sz="1000">
                <a:solidFill>
                  <a:schemeClr val="dk1"/>
                </a:solidFill>
              </a:rPr>
              <a:t>How were they addressed?</a:t>
            </a:r>
            <a:endParaRPr sz="10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ee4022de9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ee4022de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 Lead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100ec70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f100ec70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f0ad6c83ac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f0ad6c83ac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0ad6c83a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f0ad6c83a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</a:rPr>
              <a:t>In addition to demonstrating key functionality in the live demo, teams should be prepared to conduct a </a:t>
            </a:r>
            <a:r>
              <a:rPr b="1" lang="en">
                <a:solidFill>
                  <a:srgbClr val="595959"/>
                </a:solidFill>
              </a:rPr>
              <a:t>code walkthrough</a:t>
            </a:r>
            <a:r>
              <a:rPr lang="en">
                <a:solidFill>
                  <a:srgbClr val="595959"/>
                </a:solidFill>
              </a:rPr>
              <a:t> and </a:t>
            </a:r>
            <a:r>
              <a:rPr b="1" lang="en">
                <a:solidFill>
                  <a:srgbClr val="595959"/>
                </a:solidFill>
              </a:rPr>
              <a:t>explain key components of the codebase.</a:t>
            </a:r>
            <a:endParaRPr sz="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e4022de9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ee4022de9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4" name="Google Shape;664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5" name="Google Shape;66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8" name="Google Shape;66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9" name="Google Shape;66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2" name="Google Shape;67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5" name="Google Shape;675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6" name="Google Shape;676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7" name="Google Shape;67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0" name="Google Shape;68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3" name="Google Shape;683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4" name="Google Shape;68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87" name="Google Shape;68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1" name="Google Shape;691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2" name="Google Shape;692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3" name="Google Shape;69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96" name="Google Shape;69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9" name="Google Shape;699;p6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0" name="Google Shape;700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4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 Project Demo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Neighborhood Tool Sharing</a:t>
            </a:r>
            <a:endParaRPr i="1"/>
          </a:p>
        </p:txBody>
      </p:sp>
      <p:sp>
        <p:nvSpPr>
          <p:cNvPr id="708" name="Google Shape;708;p71"/>
          <p:cNvSpPr txBox="1"/>
          <p:nvPr>
            <p:ph idx="1" type="subTitle"/>
          </p:nvPr>
        </p:nvSpPr>
        <p:spPr>
          <a:xfrm>
            <a:off x="311700" y="3445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b="1" lang="en" sz="1880">
                <a:solidFill>
                  <a:schemeClr val="dk1"/>
                </a:solidFill>
              </a:rPr>
              <a:t>Team Members</a:t>
            </a:r>
            <a:endParaRPr b="1" sz="18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lang="en" sz="1880">
                <a:solidFill>
                  <a:schemeClr val="dk1"/>
                </a:solidFill>
              </a:rPr>
              <a:t>Rion Sawabe     Ivan Wu     Yafei Wang     Nick Fairhart     Loreto Coloma</a:t>
            </a:r>
            <a:endParaRPr sz="1880">
              <a:solidFill>
                <a:schemeClr val="dk1"/>
              </a:solidFill>
            </a:endParaRPr>
          </a:p>
        </p:txBody>
      </p:sp>
      <p:sp>
        <p:nvSpPr>
          <p:cNvPr id="709" name="Google Shape;709;p71"/>
          <p:cNvSpPr txBox="1"/>
          <p:nvPr/>
        </p:nvSpPr>
        <p:spPr>
          <a:xfrm>
            <a:off x="571500" y="3810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</a:rPr>
              <a:t>Group 3 | ICS 613</a:t>
            </a:r>
            <a:endParaRPr sz="1100">
              <a:solidFill>
                <a:srgbClr val="5F6368"/>
              </a:solidFill>
            </a:endParaRPr>
          </a:p>
        </p:txBody>
      </p:sp>
      <p:sp>
        <p:nvSpPr>
          <p:cNvPr id="710" name="Google Shape;710;p71"/>
          <p:cNvSpPr txBox="1"/>
          <p:nvPr/>
        </p:nvSpPr>
        <p:spPr>
          <a:xfrm>
            <a:off x="6286500" y="3810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Summer 2026</a:t>
            </a:r>
            <a:endParaRPr sz="1100">
              <a:solidFill>
                <a:srgbClr val="5F6368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2"/>
          <p:cNvSpPr txBox="1"/>
          <p:nvPr>
            <p:ph type="title"/>
          </p:nvPr>
        </p:nvSpPr>
        <p:spPr>
          <a:xfrm>
            <a:off x="311700" y="1218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Overview of the Domain Model and ER diagram</a:t>
            </a:r>
            <a:endParaRPr b="1" i="0" sz="24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6" name="Google Shape;716;p72"/>
          <p:cNvGrpSpPr/>
          <p:nvPr/>
        </p:nvGrpSpPr>
        <p:grpSpPr>
          <a:xfrm>
            <a:off x="381000" y="761977"/>
            <a:ext cx="4048200" cy="1585572"/>
            <a:chOff x="381000" y="762000"/>
            <a:chExt cx="4048200" cy="1809600"/>
          </a:xfrm>
        </p:grpSpPr>
        <p:sp>
          <p:nvSpPr>
            <p:cNvPr id="717" name="Google Shape;717;p72"/>
            <p:cNvSpPr/>
            <p:nvPr/>
          </p:nvSpPr>
          <p:spPr>
            <a:xfrm>
              <a:off x="381000" y="76200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8" name="Google Shape;718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762000"/>
              <a:ext cx="4048200" cy="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72"/>
            <p:cNvSpPr txBox="1"/>
            <p:nvPr/>
          </p:nvSpPr>
          <p:spPr>
            <a:xfrm>
              <a:off x="523875" y="876300"/>
              <a:ext cx="37623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8 Entities, 5 Core Relationships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User, Tool, Reservation, Review, Invite, Photo, Notification, AdminAuditLog</a:t>
              </a:r>
              <a:endParaRPr b="1" sz="11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User owns Tools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• User borrows via Reservations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Reservation → Review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(one per party)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Tool → Photos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(1–5 scale limit)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72"/>
          <p:cNvGrpSpPr/>
          <p:nvPr/>
        </p:nvGrpSpPr>
        <p:grpSpPr>
          <a:xfrm>
            <a:off x="4604115" y="761999"/>
            <a:ext cx="4087063" cy="1585572"/>
            <a:chOff x="4714875" y="762000"/>
            <a:chExt cx="4048200" cy="1809600"/>
          </a:xfrm>
        </p:grpSpPr>
        <p:sp>
          <p:nvSpPr>
            <p:cNvPr id="721" name="Google Shape;721;p72"/>
            <p:cNvSpPr/>
            <p:nvPr/>
          </p:nvSpPr>
          <p:spPr>
            <a:xfrm>
              <a:off x="4714875" y="76200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2" name="Google Shape;722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14875" y="762000"/>
              <a:ext cx="4048200" cy="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3" name="Google Shape;723;p72"/>
            <p:cNvSpPr txBox="1"/>
            <p:nvPr/>
          </p:nvSpPr>
          <p:spPr>
            <a:xfrm>
              <a:off x="4857738" y="876302"/>
              <a:ext cx="38589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Key DB Constraints</a:t>
              </a:r>
              <a:endParaRPr b="1" sz="119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GiST EXCLUDE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on (tool_id, daterange) — strictly prevents any double-booking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(reservation_id, reviewer_id) — limits to one review per party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Soft-delete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35">
                  <a:solidFill>
                    <a:srgbClr val="3C4043"/>
                  </a:solidFill>
                </a:rPr>
                <a:t>with PII anonymization &amp; active-reservation guard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      </a:t>
              </a:r>
              <a:r>
                <a:rPr b="1" lang="en" sz="85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Enums:</a:t>
              </a:r>
              <a:r>
                <a:rPr lang="en" sz="85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750">
                  <a:solidFill>
                    <a:srgbClr val="5F6368"/>
                  </a:solidFill>
                </a:rPr>
                <a:t>5</a:t>
              </a:r>
              <a:r>
                <a:rPr lang="en" sz="75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 ToolCategory · 5 ToolCondition · 6 ReservationS</a:t>
              </a:r>
              <a:r>
                <a:rPr lang="en" sz="75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tate · 14  </a:t>
              </a:r>
              <a:r>
                <a:rPr lang="en" sz="750">
                  <a:solidFill>
                    <a:srgbClr val="5F6368"/>
                  </a:solidFill>
                </a:rPr>
                <a:t>N</a:t>
              </a:r>
              <a:r>
                <a:rPr lang="en" sz="75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otificationType</a:t>
              </a:r>
              <a:endParaRPr sz="75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72"/>
          <p:cNvSpPr/>
          <p:nvPr/>
        </p:nvSpPr>
        <p:spPr>
          <a:xfrm>
            <a:off x="714375" y="2686050"/>
            <a:ext cx="7715400" cy="2362200"/>
          </a:xfrm>
          <a:prstGeom prst="roundRect">
            <a:avLst>
              <a:gd fmla="val 3225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2415075"/>
            <a:ext cx="8382076" cy="263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3"/>
          <p:cNvSpPr txBox="1"/>
          <p:nvPr>
            <p:ph type="title"/>
          </p:nvPr>
        </p:nvSpPr>
        <p:spPr>
          <a:xfrm>
            <a:off x="311700" y="33337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Major Accomplishments </a:t>
            </a:r>
            <a:r>
              <a:rPr b="1" lang="en" sz="2500">
                <a:solidFill>
                  <a:srgbClr val="211F1E"/>
                </a:solidFill>
              </a:rPr>
              <a:t>— Backend</a:t>
            </a:r>
            <a:endParaRPr b="1" sz="24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3"/>
          <p:cNvSpPr/>
          <p:nvPr/>
        </p:nvSpPr>
        <p:spPr>
          <a:xfrm>
            <a:off x="285750" y="1047750"/>
            <a:ext cx="2714700" cy="3762300"/>
          </a:xfrm>
          <a:prstGeom prst="roundRect">
            <a:avLst>
              <a:gd fmla="val 2807" name="adj"/>
            </a:avLst>
          </a:prstGeom>
          <a:solidFill>
            <a:srgbClr val="F8F9FA"/>
          </a:solidFill>
          <a:ln cap="flat" cmpd="sng" w="143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73"/>
          <p:cNvSpPr txBox="1"/>
          <p:nvPr/>
        </p:nvSpPr>
        <p:spPr>
          <a:xfrm>
            <a:off x="285750" y="1047750"/>
            <a:ext cx="2798100" cy="376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18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46 Endpoints / 7 Routers</a:t>
            </a:r>
            <a:br>
              <a:rPr b="1" lang="en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Fully Implemented &amp; Tested</a:t>
            </a:r>
            <a:endParaRPr b="1"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Comprehensive coverage of core services ensuring robust data layers and business logic.</a:t>
            </a:r>
            <a:endParaRPr sz="10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Endpoint Breakdown:</a:t>
            </a:r>
            <a:endParaRPr b="1" sz="11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Auth: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13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11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Reservations: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10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Reviews: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5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Admin: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4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Notifications &amp; Health: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3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3143250" y="1047750"/>
            <a:ext cx="2714700" cy="3762300"/>
          </a:xfrm>
          <a:prstGeom prst="roundRect">
            <a:avLst>
              <a:gd fmla="val 2807" name="adj"/>
            </a:avLst>
          </a:prstGeom>
          <a:solidFill>
            <a:srgbClr val="F8F9FA"/>
          </a:solidFill>
          <a:ln cap="flat" cmpd="sng" w="143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3"/>
          <p:cNvSpPr txBox="1"/>
          <p:nvPr/>
        </p:nvSpPr>
        <p:spPr>
          <a:xfrm>
            <a:off x="3143250" y="1047750"/>
            <a:ext cx="2774100" cy="376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65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Infrastructure Highlights</a:t>
            </a:r>
            <a:endParaRPr b="1" sz="1665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JWT Security: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Access &amp; refresh tokens with automatic rotation.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Rate Limiting: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Configurable active protection on all auth endpoints.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Double-booking guard</a:t>
            </a: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71">
                <a:solidFill>
                  <a:srgbClr val="3C4043"/>
                </a:solidFill>
              </a:rPr>
              <a:t>GiST EXCLUDE at DB level and app-level overlap check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APScheduler: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Automated stale cancels, escalations, and cleanups.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Photo Uploads: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Magic-byte validated with a 5 MB disk limit.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5" name="Google Shape;735;p73" title="API_endpoints_auth.png"/>
          <p:cNvPicPr preferRelativeResize="0"/>
          <p:nvPr/>
        </p:nvPicPr>
        <p:blipFill rotWithShape="1">
          <a:blip r:embed="rId3">
            <a:alphaModFix/>
          </a:blip>
          <a:srcRect b="13823" l="17429" r="43624" t="10477"/>
          <a:stretch/>
        </p:blipFill>
        <p:spPr>
          <a:xfrm>
            <a:off x="6034200" y="1059675"/>
            <a:ext cx="2846423" cy="373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4"/>
          <p:cNvSpPr txBox="1"/>
          <p:nvPr/>
        </p:nvSpPr>
        <p:spPr>
          <a:xfrm>
            <a:off x="571500" y="428625"/>
            <a:ext cx="840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211F1E"/>
                </a:solidFill>
              </a:rPr>
              <a:t>Major Accomplishments — Frontend</a:t>
            </a:r>
            <a:endParaRPr b="1" i="0" sz="1100" u="none" cap="none" strike="noStrike">
              <a:solidFill>
                <a:srgbClr val="000000"/>
              </a:solidFill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837269" y="1084998"/>
            <a:ext cx="365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211F1E"/>
                </a:solidFill>
              </a:rPr>
              <a:t>Core Member Workflow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742" name="Google Shape;742;p74"/>
          <p:cNvSpPr txBox="1"/>
          <p:nvPr/>
        </p:nvSpPr>
        <p:spPr>
          <a:xfrm>
            <a:off x="801551" y="2849505"/>
            <a:ext cx="369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211F1E"/>
                </a:solidFill>
              </a:rPr>
              <a:t>Tool Listing Workflow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743" name="Google Shape;743;p74"/>
          <p:cNvSpPr txBox="1"/>
          <p:nvPr/>
        </p:nvSpPr>
        <p:spPr>
          <a:xfrm>
            <a:off x="5003731" y="1084998"/>
            <a:ext cx="371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211F1E"/>
                </a:solidFill>
              </a:rPr>
              <a:t>Reservation + Review Workflow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744" name="Google Shape;744;p74"/>
          <p:cNvSpPr txBox="1"/>
          <p:nvPr/>
        </p:nvSpPr>
        <p:spPr>
          <a:xfrm>
            <a:off x="5015413" y="3075657"/>
            <a:ext cx="371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211F1E"/>
                </a:solidFill>
              </a:rPr>
              <a:t>Notifications + Admin Support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745" name="Google Shape;745;p74"/>
          <p:cNvSpPr txBox="1"/>
          <p:nvPr/>
        </p:nvSpPr>
        <p:spPr>
          <a:xfrm>
            <a:off x="5087801" y="5489972"/>
            <a:ext cx="36591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11F1E"/>
                </a:solidFill>
                <a:latin typeface="DM Sans"/>
                <a:ea typeface="DM Sans"/>
                <a:cs typeface="DM Sans"/>
                <a:sym typeface="DM Sans"/>
              </a:rPr>
              <a:t>Build / Testing Status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46" name="Google Shape;74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64833"/>
            <a:ext cx="18004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7" name="Google Shape;74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9339"/>
            <a:ext cx="144326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8" name="Google Shape;748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7968" y="1164833"/>
            <a:ext cx="13003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9" name="Google Shape;749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9650" y="3155492"/>
            <a:ext cx="13003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74"/>
          <p:cNvSpPr txBox="1"/>
          <p:nvPr/>
        </p:nvSpPr>
        <p:spPr>
          <a:xfrm>
            <a:off x="455700" y="1454149"/>
            <a:ext cx="38664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i="0" lang="en" sz="1000" u="none" cap="none" strike="noStrike">
                <a:solidFill>
                  <a:schemeClr val="dk1"/>
                </a:solidFill>
              </a:rPr>
              <a:t>Built R1 member-facing pages for login, registration with invite token, email verification, forgot/reset password, profile setup, and edit profile.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mock authentication behavior using frontend state/localStorage so the R1 demo can show login/logout and protected member navigation.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1" name="Google Shape;751;p74"/>
          <p:cNvSpPr txBox="1"/>
          <p:nvPr/>
        </p:nvSpPr>
        <p:spPr>
          <a:xfrm>
            <a:off x="537450" y="3218674"/>
            <a:ext cx="37845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3429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i="0" lang="en" sz="1000" u="none" cap="none" strike="noStrike">
                <a:solidFill>
                  <a:schemeClr val="dk1"/>
                </a:solidFill>
              </a:rPr>
              <a:t>Implemented major tool-sharing pages: Browse Tools, Tool Detail, Create Tool Listing, and Edit Tool Listing.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292100" lvl="0" marL="3429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frontend validation for required fields, photo upload limits, duplicate tool names, latest return time format, and HST date/time labels.</a:t>
            </a:r>
            <a:endParaRPr sz="1000">
              <a:solidFill>
                <a:schemeClr val="dk1"/>
              </a:solidFill>
            </a:endParaRPr>
          </a:p>
          <a:p>
            <a:pPr indent="-292100" lvl="0" marL="3429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owner-side delete/deactivate listing UI, including active-reservation blocking and confirmation behavior.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2" name="Google Shape;752;p74"/>
          <p:cNvSpPr txBox="1"/>
          <p:nvPr/>
        </p:nvSpPr>
        <p:spPr>
          <a:xfrm>
            <a:off x="4672087" y="1454149"/>
            <a:ext cx="43674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i="0" lang="en" sz="1000" u="none" cap="none" strike="noStrike">
                <a:solidFill>
                  <a:schemeClr val="dk1"/>
                </a:solidFill>
              </a:rPr>
              <a:t>Built reservation workflow UI for requesting a tool, owner approve/deny/cancel actions, borrower cancel, confirm pickup, and confirm return.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returned-reservation review support, including Leave Review flow and Review History page.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frontend reservation conflict messages and future backend-ready conflict wording for overlapping reservation dates.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3" name="Google Shape;753;p74"/>
          <p:cNvSpPr txBox="1"/>
          <p:nvPr/>
        </p:nvSpPr>
        <p:spPr>
          <a:xfrm>
            <a:off x="4683862" y="3444812"/>
            <a:ext cx="42549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i="0" lang="en" sz="1000" u="none" cap="none" strike="noStrike">
                <a:solidFill>
                  <a:schemeClr val="dk1"/>
                </a:solidFill>
              </a:rPr>
              <a:t>Improved the Notification Center with unread/read filters, notification badges, Mark as Read, Mark All as Read, and Dashboard notification sync.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basic admin/demo pages, including Admin Invite Management and Admin Listing Controls.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Added R1 support for overdue pickup / auto-cancel notice UI to show how stale approved reservations will be handled.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4" name="Google Shape;754;p74"/>
          <p:cNvSpPr txBox="1"/>
          <p:nvPr/>
        </p:nvSpPr>
        <p:spPr>
          <a:xfrm>
            <a:off x="5022056" y="5811440"/>
            <a:ext cx="3550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Tested locally with </a:t>
            </a:r>
            <a:r>
              <a:rPr b="1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npm run build</a:t>
            </a:r>
            <a:r>
              <a:rPr b="0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74"/>
          <p:cNvSpPr txBox="1"/>
          <p:nvPr/>
        </p:nvSpPr>
        <p:spPr>
          <a:xfrm>
            <a:off x="5022056" y="6093619"/>
            <a:ext cx="3550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Changes were committed and pushed to </a:t>
            </a:r>
            <a:r>
              <a:rPr b="1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feat/yafei-frontend</a:t>
            </a:r>
            <a:r>
              <a:rPr b="0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5022056" y="6557963"/>
            <a:ext cx="3550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C5854"/>
                </a:solidFill>
                <a:latin typeface="DM Sans"/>
                <a:ea typeface="DM Sans"/>
                <a:cs typeface="DM Sans"/>
                <a:sym typeface="DM Sans"/>
              </a:rPr>
              <a:t>Frontend is structured for later backend API integration and is fully demo-ready using mock data.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74"/>
          <p:cNvSpPr txBox="1"/>
          <p:nvPr/>
        </p:nvSpPr>
        <p:spPr>
          <a:xfrm>
            <a:off x="571500" y="1497018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74"/>
          <p:cNvSpPr txBox="1"/>
          <p:nvPr/>
        </p:nvSpPr>
        <p:spPr>
          <a:xfrm>
            <a:off x="571500" y="2143527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74"/>
          <p:cNvSpPr txBox="1"/>
          <p:nvPr/>
        </p:nvSpPr>
        <p:spPr>
          <a:xfrm>
            <a:off x="571500" y="3261524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4"/>
          <p:cNvSpPr txBox="1"/>
          <p:nvPr/>
        </p:nvSpPr>
        <p:spPr>
          <a:xfrm>
            <a:off x="571500" y="3725868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4"/>
          <p:cNvSpPr txBox="1"/>
          <p:nvPr/>
        </p:nvSpPr>
        <p:spPr>
          <a:xfrm>
            <a:off x="4799650" y="3487677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74"/>
          <p:cNvSpPr txBox="1"/>
          <p:nvPr/>
        </p:nvSpPr>
        <p:spPr>
          <a:xfrm>
            <a:off x="4799650" y="4134186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74"/>
          <p:cNvSpPr txBox="1"/>
          <p:nvPr/>
        </p:nvSpPr>
        <p:spPr>
          <a:xfrm>
            <a:off x="4799650" y="4598529"/>
            <a:ext cx="4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74"/>
          <p:cNvSpPr txBox="1"/>
          <p:nvPr/>
        </p:nvSpPr>
        <p:spPr>
          <a:xfrm>
            <a:off x="4822031" y="5854303"/>
            <a:ext cx="42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54A34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74"/>
          <p:cNvSpPr txBox="1"/>
          <p:nvPr/>
        </p:nvSpPr>
        <p:spPr>
          <a:xfrm>
            <a:off x="4822031" y="6136481"/>
            <a:ext cx="42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54A34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74"/>
          <p:cNvSpPr txBox="1"/>
          <p:nvPr/>
        </p:nvSpPr>
        <p:spPr>
          <a:xfrm>
            <a:off x="4822031" y="6600825"/>
            <a:ext cx="42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54A34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Major Changes to requirements</a:t>
            </a:r>
            <a:endParaRPr b="1"/>
          </a:p>
        </p:txBody>
      </p:sp>
      <p:sp>
        <p:nvSpPr>
          <p:cNvPr id="772" name="Google Shape;772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Some User Stories have changes</a:t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New User Story:</a:t>
            </a:r>
            <a:r>
              <a:rPr lang="en">
                <a:solidFill>
                  <a:schemeClr val="dk1"/>
                </a:solidFill>
              </a:rPr>
              <a:t> Admin Invites a New Member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Priority is </a:t>
            </a:r>
            <a:r>
              <a:rPr b="1" lang="en">
                <a:solidFill>
                  <a:schemeClr val="dk1"/>
                </a:solidFill>
              </a:rPr>
              <a:t>high</a:t>
            </a:r>
            <a:r>
              <a:rPr lang="en">
                <a:solidFill>
                  <a:schemeClr val="dk1"/>
                </a:solidFill>
              </a:rPr>
              <a:t>. Included in R1 milestone.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Iceboxed User Stories:</a:t>
            </a:r>
            <a:r>
              <a:rPr lang="en">
                <a:solidFill>
                  <a:schemeClr val="dk1"/>
                </a:solidFill>
              </a:rPr>
              <a:t> User Story 28 (Tool Categories) &amp; User Story 33 (Admin Reports Export)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Priority is low.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Management Approach</a:t>
            </a:r>
            <a:r>
              <a:rPr lang="en"/>
              <a:t> </a:t>
            </a:r>
            <a:endParaRPr/>
          </a:p>
        </p:txBody>
      </p:sp>
      <p:sp>
        <p:nvSpPr>
          <p:cNvPr id="778" name="Google Shape;778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</a:t>
            </a: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 changed but proposed plan: </a:t>
            </a:r>
            <a:r>
              <a:rPr lang="en">
                <a:solidFill>
                  <a:schemeClr val="dk1"/>
                </a:solidFill>
              </a:rPr>
              <a:t>Transferring</a:t>
            </a:r>
            <a:r>
              <a:rPr lang="en">
                <a:solidFill>
                  <a:schemeClr val="dk1"/>
                </a:solidFill>
              </a:rPr>
              <a:t> our repository to the GitHub organization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now use the PM’s personal repository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Members’ user privileges are limited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plan to discuss at the next meeting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Risks &amp; Mitigation Strategies Update</a:t>
            </a:r>
            <a:endParaRPr b="1"/>
          </a:p>
        </p:txBody>
      </p:sp>
      <p:sp>
        <p:nvSpPr>
          <p:cNvPr id="784" name="Google Shape;784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additional risks identified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Discord is strongly leveraged for consistent and timely communication during development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Members continue to offer support and ideas proactively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of GitHub organization to provide broader team access to repository settings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 Metrics</a:t>
            </a:r>
            <a:endParaRPr/>
          </a:p>
        </p:txBody>
      </p:sp>
      <p:sp>
        <p:nvSpPr>
          <p:cNvPr id="790" name="Google Shape;790;p78"/>
          <p:cNvSpPr txBox="1"/>
          <p:nvPr>
            <p:ph idx="1" type="body"/>
          </p:nvPr>
        </p:nvSpPr>
        <p:spPr>
          <a:xfrm>
            <a:off x="311700" y="111582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Defects reported, fixed, open,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quality metrics, unit test coverage</a:t>
            </a:r>
            <a:endParaRPr/>
          </a:p>
        </p:txBody>
      </p:sp>
      <p:pic>
        <p:nvPicPr>
          <p:cNvPr id="791" name="Google Shape;791;p78" title="Screenshot 2026-07-06 at 10.09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850"/>
            <a:ext cx="9144000" cy="5089800"/>
          </a:xfrm>
          <a:prstGeom prst="rect">
            <a:avLst/>
          </a:prstGeom>
          <a:noFill/>
          <a:ln cap="flat" cmpd="sng" w="9525">
            <a:solidFill>
              <a:srgbClr val="DFF3E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9"/>
          <p:cNvSpPr/>
          <p:nvPr/>
        </p:nvSpPr>
        <p:spPr>
          <a:xfrm>
            <a:off x="408449" y="1184825"/>
            <a:ext cx="3189000" cy="252000"/>
          </a:xfrm>
          <a:prstGeom prst="roundRect">
            <a:avLst>
              <a:gd fmla="val 50000" name="adj"/>
            </a:avLst>
          </a:prstGeom>
          <a:solidFill>
            <a:srgbClr val="ECE3F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7" name="Google Shape;797;p79"/>
          <p:cNvSpPr/>
          <p:nvPr/>
        </p:nvSpPr>
        <p:spPr>
          <a:xfrm>
            <a:off x="3961850" y="1184825"/>
            <a:ext cx="4436100" cy="252000"/>
          </a:xfrm>
          <a:prstGeom prst="roundRect">
            <a:avLst>
              <a:gd fmla="val 50000" name="adj"/>
            </a:avLst>
          </a:prstGeom>
          <a:solidFill>
            <a:srgbClr val="DFF3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8" name="Google Shape;798;p79"/>
          <p:cNvSpPr txBox="1"/>
          <p:nvPr>
            <p:ph idx="7" type="title"/>
          </p:nvPr>
        </p:nvSpPr>
        <p:spPr>
          <a:xfrm>
            <a:off x="3962275" y="1183050"/>
            <a:ext cx="4397700" cy="2520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Upcoming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9" name="Google Shape;799;p79"/>
          <p:cNvCxnSpPr/>
          <p:nvPr/>
        </p:nvCxnSpPr>
        <p:spPr>
          <a:xfrm flipH="1" rot="10800000">
            <a:off x="227650" y="1179775"/>
            <a:ext cx="1500" cy="398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79"/>
          <p:cNvSpPr txBox="1"/>
          <p:nvPr>
            <p:ph idx="1" type="body"/>
          </p:nvPr>
        </p:nvSpPr>
        <p:spPr>
          <a:xfrm>
            <a:off x="223875" y="3318500"/>
            <a:ext cx="27213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Narrowed scope for initial launch and R1 demo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9"/>
          <p:cNvSpPr txBox="1"/>
          <p:nvPr>
            <p:ph idx="15" type="body"/>
          </p:nvPr>
        </p:nvSpPr>
        <p:spPr>
          <a:xfrm>
            <a:off x="3781775" y="3558275"/>
            <a:ext cx="2008200" cy="13578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July 27: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All deferred user stories included in updated release. Potential bug fixes after additional testing.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9"/>
          <p:cNvSpPr txBox="1"/>
          <p:nvPr>
            <p:ph idx="29" type="body"/>
          </p:nvPr>
        </p:nvSpPr>
        <p:spPr>
          <a:xfrm>
            <a:off x="223875" y="2490425"/>
            <a:ext cx="28911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Deferred user stories covered additional functionality for users and mostly admin tools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79"/>
          <p:cNvSpPr txBox="1"/>
          <p:nvPr>
            <p:ph idx="31" type="body"/>
          </p:nvPr>
        </p:nvSpPr>
        <p:spPr>
          <a:xfrm>
            <a:off x="3781775" y="2489375"/>
            <a:ext cx="21936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July 14: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Manual test cases created in addition to CI/CD workflow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79"/>
          <p:cNvSpPr txBox="1"/>
          <p:nvPr>
            <p:ph idx="32" type="body"/>
          </p:nvPr>
        </p:nvSpPr>
        <p:spPr>
          <a:xfrm>
            <a:off x="6128625" y="2489375"/>
            <a:ext cx="24339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Aug 6: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Deployment Guide; updated GitHub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9"/>
          <p:cNvSpPr txBox="1"/>
          <p:nvPr>
            <p:ph idx="33" type="body"/>
          </p:nvPr>
        </p:nvSpPr>
        <p:spPr>
          <a:xfrm>
            <a:off x="6166425" y="3558275"/>
            <a:ext cx="21936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Aug 13: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Final presentation and demo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>
            <p:ph idx="8" type="title"/>
          </p:nvPr>
        </p:nvSpPr>
        <p:spPr>
          <a:xfrm>
            <a:off x="406525" y="1183050"/>
            <a:ext cx="3189000" cy="2520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Missed/Postponed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Testing and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Version 2 Release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/>
          <p:nvPr>
            <p:ph idx="25" type="title"/>
          </p:nvPr>
        </p:nvSpPr>
        <p:spPr>
          <a:xfrm>
            <a:off x="227650" y="1926125"/>
            <a:ext cx="23298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10 deferred User Stories (of the 35 created)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79"/>
          <p:cNvSpPr txBox="1"/>
          <p:nvPr>
            <p:ph idx="26" type="title"/>
          </p:nvPr>
        </p:nvSpPr>
        <p:spPr>
          <a:xfrm>
            <a:off x="6166425" y="3318492"/>
            <a:ext cx="1778700" cy="2520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Showcase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79"/>
          <p:cNvSpPr txBox="1"/>
          <p:nvPr>
            <p:ph idx="27" type="title"/>
          </p:nvPr>
        </p:nvSpPr>
        <p:spPr>
          <a:xfrm>
            <a:off x="6128050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Documentation Compilation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/>
          <p:nvPr>
            <p:ph type="title"/>
          </p:nvPr>
        </p:nvSpPr>
        <p:spPr>
          <a:xfrm>
            <a:off x="311700" y="291750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Milestones</a:t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79"/>
          <p:cNvCxnSpPr/>
          <p:nvPr/>
        </p:nvCxnSpPr>
        <p:spPr>
          <a:xfrm flipH="1" rot="10800000">
            <a:off x="3792450" y="1162800"/>
            <a:ext cx="1500" cy="398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79"/>
          <p:cNvCxnSpPr/>
          <p:nvPr/>
        </p:nvCxnSpPr>
        <p:spPr>
          <a:xfrm flipH="1" rot="10800000">
            <a:off x="6071450" y="1485300"/>
            <a:ext cx="5700" cy="365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14" name="Google Shape;814;p79"/>
          <p:cNvGrpSpPr/>
          <p:nvPr/>
        </p:nvGrpSpPr>
        <p:grpSpPr>
          <a:xfrm>
            <a:off x="174073" y="2555473"/>
            <a:ext cx="5953888" cy="949213"/>
            <a:chOff x="174065" y="8072650"/>
            <a:chExt cx="5439825" cy="949213"/>
          </a:xfrm>
        </p:grpSpPr>
        <p:sp>
          <p:nvSpPr>
            <p:cNvPr id="815" name="Google Shape;815;p79"/>
            <p:cNvSpPr/>
            <p:nvPr/>
          </p:nvSpPr>
          <p:spPr>
            <a:xfrm>
              <a:off x="174065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16" name="Google Shape;816;p79"/>
            <p:cNvSpPr/>
            <p:nvPr/>
          </p:nvSpPr>
          <p:spPr>
            <a:xfrm>
              <a:off x="174065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17" name="Google Shape;817;p79"/>
            <p:cNvSpPr/>
            <p:nvPr/>
          </p:nvSpPr>
          <p:spPr>
            <a:xfrm>
              <a:off x="3440537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18" name="Google Shape;818;p79"/>
            <p:cNvSpPr/>
            <p:nvPr/>
          </p:nvSpPr>
          <p:spPr>
            <a:xfrm>
              <a:off x="5505890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19" name="Google Shape;819;p79"/>
          <p:cNvSpPr/>
          <p:nvPr/>
        </p:nvSpPr>
        <p:spPr>
          <a:xfrm>
            <a:off x="3731202" y="3667839"/>
            <a:ext cx="118200" cy="1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0" name="Google Shape;820;p79"/>
          <p:cNvSpPr/>
          <p:nvPr/>
        </p:nvSpPr>
        <p:spPr>
          <a:xfrm>
            <a:off x="5999569" y="3701486"/>
            <a:ext cx="118200" cy="1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0"/>
          <p:cNvSpPr/>
          <p:nvPr/>
        </p:nvSpPr>
        <p:spPr>
          <a:xfrm>
            <a:off x="228051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6" name="Google Shape;826;p80"/>
          <p:cNvSpPr/>
          <p:nvPr/>
        </p:nvSpPr>
        <p:spPr>
          <a:xfrm>
            <a:off x="332497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7" name="Google Shape;827;p80"/>
          <p:cNvSpPr/>
          <p:nvPr/>
        </p:nvSpPr>
        <p:spPr>
          <a:xfrm>
            <a:off x="642122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8" name="Google Shape;828;p80"/>
          <p:cNvSpPr txBox="1"/>
          <p:nvPr>
            <p:ph idx="3" type="title"/>
          </p:nvPr>
        </p:nvSpPr>
        <p:spPr>
          <a:xfrm>
            <a:off x="226825" y="19336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400"/>
              <a:t>Functionality</a:t>
            </a:r>
            <a:endParaRPr sz="1400"/>
          </a:p>
        </p:txBody>
      </p:sp>
      <p:sp>
        <p:nvSpPr>
          <p:cNvPr id="829" name="Google Shape;829;p80"/>
          <p:cNvSpPr txBox="1"/>
          <p:nvPr>
            <p:ph idx="4" type="title"/>
          </p:nvPr>
        </p:nvSpPr>
        <p:spPr>
          <a:xfrm>
            <a:off x="3324053" y="1933645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Usability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80"/>
          <p:cNvSpPr txBox="1"/>
          <p:nvPr>
            <p:ph idx="5" type="title"/>
          </p:nvPr>
        </p:nvSpPr>
        <p:spPr>
          <a:xfrm>
            <a:off x="6420727" y="1933645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Additional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Admin Tools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80"/>
          <p:cNvSpPr txBox="1"/>
          <p:nvPr>
            <p:ph idx="7" type="title"/>
          </p:nvPr>
        </p:nvSpPr>
        <p:spPr>
          <a:xfrm>
            <a:off x="226006" y="33655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Admin Tools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0"/>
          <p:cNvSpPr txBox="1"/>
          <p:nvPr>
            <p:ph idx="21" type="title"/>
          </p:nvPr>
        </p:nvSpPr>
        <p:spPr>
          <a:xfrm>
            <a:off x="3322845" y="3365553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R1 Retrospective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80"/>
          <p:cNvSpPr txBox="1"/>
          <p:nvPr>
            <p:ph idx="15" type="title"/>
          </p:nvPr>
        </p:nvSpPr>
        <p:spPr>
          <a:xfrm>
            <a:off x="586800" y="1218600"/>
            <a:ext cx="13446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Deferred User Stories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80"/>
          <p:cNvSpPr txBox="1"/>
          <p:nvPr>
            <p:ph idx="16" type="title"/>
          </p:nvPr>
        </p:nvSpPr>
        <p:spPr>
          <a:xfrm>
            <a:off x="3684076" y="1218600"/>
            <a:ext cx="13446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Improvements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80"/>
          <p:cNvSpPr txBox="1"/>
          <p:nvPr>
            <p:ph idx="17" type="title"/>
          </p:nvPr>
        </p:nvSpPr>
        <p:spPr>
          <a:xfrm>
            <a:off x="6781038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TBD/Icebox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0"/>
          <p:cNvSpPr txBox="1"/>
          <p:nvPr>
            <p:ph idx="2" type="title"/>
          </p:nvPr>
        </p:nvSpPr>
        <p:spPr>
          <a:xfrm>
            <a:off x="33247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37" name="Google Shape;837;p80"/>
          <p:cNvSpPr txBox="1"/>
          <p:nvPr>
            <p:ph idx="6" type="title"/>
          </p:nvPr>
        </p:nvSpPr>
        <p:spPr>
          <a:xfrm>
            <a:off x="64215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38" name="Google Shape;838;p80"/>
          <p:cNvSpPr txBox="1"/>
          <p:nvPr>
            <p:ph type="title"/>
          </p:nvPr>
        </p:nvSpPr>
        <p:spPr>
          <a:xfrm>
            <a:off x="225575" y="121859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39" name="Google Shape;839;p80"/>
          <p:cNvSpPr txBox="1"/>
          <p:nvPr>
            <p:ph idx="25" type="body"/>
          </p:nvPr>
        </p:nvSpPr>
        <p:spPr>
          <a:xfrm>
            <a:off x="225725" y="2167825"/>
            <a:ext cx="2817600" cy="8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Timezone normalization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Reservation messaging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Notification center UI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Member: Reporting a listing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80"/>
          <p:cNvSpPr txBox="1"/>
          <p:nvPr>
            <p:ph idx="26" type="body"/>
          </p:nvPr>
        </p:nvSpPr>
        <p:spPr>
          <a:xfrm>
            <a:off x="3321500" y="2167825"/>
            <a:ext cx="25395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Pagination on all list endpoints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Advanced search filters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0"/>
          <p:cNvSpPr txBox="1"/>
          <p:nvPr>
            <p:ph idx="27" type="body"/>
          </p:nvPr>
        </p:nvSpPr>
        <p:spPr>
          <a:xfrm>
            <a:off x="6382900" y="2167825"/>
            <a:ext cx="2726700" cy="9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Managing tool categories (CRUD API)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Generate community moderation reports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80"/>
          <p:cNvSpPr txBox="1"/>
          <p:nvPr>
            <p:ph idx="22" type="body"/>
          </p:nvPr>
        </p:nvSpPr>
        <p:spPr>
          <a:xfrm>
            <a:off x="225725" y="3599725"/>
            <a:ext cx="30333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Review reports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Track violations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Suspend/reactivate a member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Moderation history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80"/>
          <p:cNvSpPr txBox="1"/>
          <p:nvPr>
            <p:ph idx="23" type="body"/>
          </p:nvPr>
        </p:nvSpPr>
        <p:spPr>
          <a:xfrm>
            <a:off x="3321500" y="3599725"/>
            <a:ext cx="2468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Bug fixes for potential issues identified after R1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4" name="Google Shape;844;p80"/>
          <p:cNvCxnSpPr/>
          <p:nvPr/>
        </p:nvCxnSpPr>
        <p:spPr>
          <a:xfrm>
            <a:off x="3151068" y="663301"/>
            <a:ext cx="21600" cy="42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5" name="Google Shape;84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Next Steps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80"/>
          <p:cNvCxnSpPr/>
          <p:nvPr/>
        </p:nvCxnSpPr>
        <p:spPr>
          <a:xfrm>
            <a:off x="6310218" y="663301"/>
            <a:ext cx="21600" cy="42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Neighborhood Tool Sharing Demo</a:t>
            </a:r>
            <a:endParaRPr b="1"/>
          </a:p>
        </p:txBody>
      </p:sp>
      <p:sp>
        <p:nvSpPr>
          <p:cNvPr id="852" name="Google Shape;852;p81"/>
          <p:cNvSpPr txBox="1"/>
          <p:nvPr>
            <p:ph idx="1" type="body"/>
          </p:nvPr>
        </p:nvSpPr>
        <p:spPr>
          <a:xfrm>
            <a:off x="311700" y="1152475"/>
            <a:ext cx="85206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Admin Invitation of New User, Tool Deactivation/Reactivation, Member Sign-up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53" name="Google Shape;85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00" y="1710825"/>
            <a:ext cx="7954409" cy="32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2"/>
          <p:cNvSpPr txBox="1"/>
          <p:nvPr>
            <p:ph type="title"/>
          </p:nvPr>
        </p:nvSpPr>
        <p:spPr>
          <a:xfrm>
            <a:off x="311700" y="445025"/>
            <a:ext cx="8520600" cy="32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Thank you!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Questions?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